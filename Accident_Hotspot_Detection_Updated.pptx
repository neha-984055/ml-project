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aaaa87-a350-a24e-6c14-9214ff3e837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ystem Design" id="{6aeab590-fb36-0054-7850-b6edf59b072c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Implementation" id="{892e2e36-5e1d-8093-2eaa-028dd0809aeb}">
          <p14:sldIdLst>
            <p14:sldId id="268"/>
            <p14:sldId id="269"/>
            <p14:sldId id="270"/>
          </p14:sldIdLst>
        </p14:section>
        <p14:section name="Results &amp; Demo" id="{131cb9dc-3c36-e0ac-5623-f08e4d29b069}">
          <p14:sldIdLst>
            <p14:sldId id="271"/>
            <p14:sldId id="272"/>
            <p14:sldId id="273"/>
            <p14:sldId id="274"/>
            <p14:sldId id="275"/>
          </p14:sldIdLst>
        </p14:section>
        <p14:section name="Wrap-up" id="{7aceb5a4-07a9-4189-15be-067b12d39b02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(km)</c:v>
                </c:pt>
              </c:strCache>
            </c:strRef>
          </c:tx>
          <c:spPr>
            <a:solidFill>
              <a:srgbClr val="13A89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Delhi</c:v>
                  </c:pt>
                  <c:pt idx="1">
                    <c:v>Bangalore</c:v>
                  </c:pt>
                  <c:pt idx="2">
                    <c:v>Hyderabad</c:v>
                  </c:pt>
                  <c:pt idx="3">
                    <c:v>Mumbai</c:v>
                  </c:pt>
                  <c:pt idx="4">
                    <c:v>Chennai</c:v>
                  </c:pt>
                  <c:pt idx="5">
                    <c:v>Kolkata</c:v>
                  </c:pt>
                  <c:pt idx="6">
                    <c:v>Pune</c:v>
                  </c:pt>
                  <c:pt idx="7">
                    <c:v>Chandigarh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</c:v>
                </c:pt>
                <c:pt idx="1">
                  <c:v>2</c:v>
                </c:pt>
                <c:pt idx="2">
                  <c:v>2</c:v>
                </c:pt>
                <c:pt idx="3">
                  <c:v>1.9</c:v>
                </c:pt>
                <c:pt idx="4">
                  <c:v>1.4</c:v>
                </c:pt>
                <c:pt idx="5">
                  <c:v>1.4</c:v>
                </c:pt>
                <c:pt idx="6">
                  <c:v>1.2</c:v>
                </c:pt>
                <c:pt idx="7">
                  <c:v>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members, guide and department. Mention this is for the Machine Learning course, A.Y. 2026-27.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abstract: the problem, why DBSCAN, the dataset, the workflow and the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background of road accidents, the ML domain (geospatial clustering) and why an automated method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existing problem, its limitations and the groups 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team chose this topic, the real-world need and the research/industry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main objective, then walk through the five specific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hotspots are found today and why those methods fall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proposed DBSCAN-based system fixes each limitation of the existing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input data, processing modules, the DBSCAN model and the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Eight-step pipeline from data collection to visualisation.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Pandas, NumPy and Scikit-learn for ML; Flask, Chart.js and Leaflet for the dashboard. No database server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modules: UI, data collection, preprocessing, ML core, decision, visualisation, storage and security/validation.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key DBSCAN call. eps is in kilometres and converted to radians for the Haversine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Indian Road Accident Dataset 2022-2025 from Kaggle. Add the final record count from your CSV here when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core, border and noise points, why DBSCAN suits accident data, and the three key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'Final run' column with the values from your Kaggle run. Explain that supervised metrics are not applicable to unsupervised 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comparison of DBSCAN vs K-Means vs manual analysis. Add measured numbers if you ran a K-Means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of the RoadLens Flask website running on the built-in synthetic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charts produced by the dashboard: accidents by city, severity, causes and hour, traffic density and weather.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and table for Hyderabad in the demo data. Relative risk is based on cluster record counts (33rd and 66th percentiles).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and improvements over the existing manual and centroid-based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applications and target users from the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DBSCAN finds historical concentrations; results depend on data quality and parameter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improvements: real-time reporting, dynamic hotspots, web/mobile deployment, deep-learning severity prediction and safer-route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summarising what was built, the key outcome and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RK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Accident Hotspot Detection Using DBSCAN-Based Anomaly Detection  |  KL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Accident Hotspot Detection Using DBSCAN-Based Anomaly Detection  |  KL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road" descr="Night road with accident location 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3" name="logo-card"/>
          <p:cNvSpPr/>
          <p:nvPr/>
        </p:nvSpPr>
        <p:spPr>
          <a:xfrm>
            <a:off x="548640" y="411480"/>
            <a:ext cx="51206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kl-logo" descr="KL Universit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1208"/>
            <a:ext cx="4846320" cy="5486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A PROJECT TITLE ON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9659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 Hotspot Detection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Using DBSCAN-Based Anomaly Detection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4747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Project report submitted in partial fulfilment of the requirements for the course MACHINE LEARNING  •  BACHELOR OF TECHNOLOGY  •  A.Y. 2026-27</a:t>
            </a:r>
            <a:endParaRPr lang="en-US" sz="1400" dirty="0"/>
          </a:p>
        </p:txBody>
      </p:sp>
      <p:sp>
        <p:nvSpPr>
          <p:cNvPr id="9" name="team-card"/>
          <p:cNvSpPr/>
          <p:nvPr/>
        </p:nvSpPr>
        <p:spPr>
          <a:xfrm>
            <a:off x="548640" y="4343400"/>
            <a:ext cx="7040880" cy="1691640"/>
          </a:xfrm>
          <a:prstGeom prst="roundRect">
            <a:avLst>
              <a:gd name="adj" fmla="val 6486"/>
            </a:avLst>
          </a:prstGeom>
          <a:solidFill>
            <a:schemeClr val="tx2">
              <a:alpha val="7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77316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Bathula Neha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  2520090013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Veeramallu Rohita Sai Lakshmi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  2520090235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Koumudi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  2520090161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4480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UNDER THE GUIDANCE OF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477316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Haritha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Assistant Professor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Department of CSIT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bg2"/>
                </a:solidFill>
              </a:rPr>
              <a:t>DEPARTMENT OF CSIT   |   KL UNIVERSITY (DEEMED TO BE UNIVERSITY)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01  •  PROJECT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Abstract</a:t>
            </a:r>
            <a:endParaRPr lang="en-US" sz="3400" dirty="0"/>
          </a:p>
        </p:txBody>
      </p:sp>
      <p:sp>
        <p:nvSpPr>
          <p:cNvPr id="4" name="badge-1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5" name="icon-2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7876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5448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Accidents recur at specific locations, but spotting these hotspots by hand is slow and error-prone.</a:t>
            </a:r>
            <a:endParaRPr lang="en-US" sz="1400" dirty="0"/>
          </a:p>
        </p:txBody>
      </p:sp>
      <p:sp>
        <p:nvSpPr>
          <p:cNvPr id="7" name="badge-3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8" name="icon-4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70205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46888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method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DBSCAN, an unsupervised algorithm, groups accident-prone locations and flags isolated incidents as anomalies.</a:t>
            </a:r>
            <a:endParaRPr lang="en-US" sz="1400" dirty="0"/>
          </a:p>
        </p:txBody>
      </p:sp>
      <p:sp>
        <p:nvSpPr>
          <p:cNvPr id="10" name="badge-5"/>
          <p:cNvSpPr/>
          <p:nvPr/>
        </p:nvSpPr>
        <p:spPr>
          <a:xfrm>
            <a:off x="548640" y="34747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1" name="icon-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616452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38328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sources (US Accidents, UK Road Safety, Indian Road Accident); this work uses the Indian dataset, 2022–2025.</a:t>
            </a:r>
            <a:endParaRPr lang="en-US" sz="1400" dirty="0"/>
          </a:p>
        </p:txBody>
      </p:sp>
      <p:sp>
        <p:nvSpPr>
          <p:cNvPr id="13" name="badge-7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4" name="icon-8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53085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29768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Collection, preprocessing, EDA, feature selection and DBSCAN, validated by Silhouette, Davies–Bouldin and expert review.</a:t>
            </a:r>
            <a:endParaRPr lang="en-US" sz="1400" dirty="0"/>
          </a:p>
        </p:txBody>
      </p:sp>
      <p:sp>
        <p:nvSpPr>
          <p:cNvPr id="16" name="badge-9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7" name="icon-10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445252"/>
            <a:ext cx="283464" cy="28346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521208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output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Locations labelled high, medium, low risk or anomaly, shown on interactive maps for safety planning.</a:t>
            </a:r>
            <a:endParaRPr lang="en-US" sz="1400" dirty="0"/>
          </a:p>
        </p:txBody>
      </p:sp>
      <p:sp>
        <p:nvSpPr>
          <p:cNvPr id="19" name="card-11"/>
          <p:cNvSpPr/>
          <p:nvPr/>
        </p:nvSpPr>
        <p:spPr>
          <a:xfrm>
            <a:off x="7818120" y="1554480"/>
            <a:ext cx="3822192" cy="4572000"/>
          </a:xfrm>
          <a:prstGeom prst="roundRect">
            <a:avLst>
              <a:gd name="adj" fmla="val 2871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Text 13"/>
          <p:cNvSpPr txBox="1"/>
          <p:nvPr/>
        </p:nvSpPr>
        <p:spPr>
          <a:xfrm>
            <a:off x="80924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DBSCAN in one picture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8321040" y="2331720"/>
            <a:ext cx="1737360" cy="1737360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372600" y="3703320"/>
            <a:ext cx="1828800" cy="1828800"/>
          </a:xfrm>
          <a:prstGeom prst="ellipse">
            <a:avLst/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t-12"/>
          <p:cNvSpPr/>
          <p:nvPr/>
        </p:nvSpPr>
        <p:spPr>
          <a:xfrm>
            <a:off x="9161315" y="3509934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4" name="pt-13"/>
          <p:cNvSpPr/>
          <p:nvPr/>
        </p:nvSpPr>
        <p:spPr>
          <a:xfrm>
            <a:off x="9027738" y="3301176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5" name="pt-14"/>
          <p:cNvSpPr/>
          <p:nvPr/>
        </p:nvSpPr>
        <p:spPr>
          <a:xfrm>
            <a:off x="9002573" y="2534107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6" name="pt-15"/>
          <p:cNvSpPr/>
          <p:nvPr/>
        </p:nvSpPr>
        <p:spPr>
          <a:xfrm>
            <a:off x="9639269" y="3446279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7" name="pt-16"/>
          <p:cNvSpPr/>
          <p:nvPr/>
        </p:nvSpPr>
        <p:spPr>
          <a:xfrm>
            <a:off x="9391594" y="3342291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pt-17"/>
          <p:cNvSpPr/>
          <p:nvPr/>
        </p:nvSpPr>
        <p:spPr>
          <a:xfrm>
            <a:off x="9223146" y="2803390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9" name="pt-18"/>
          <p:cNvSpPr/>
          <p:nvPr/>
        </p:nvSpPr>
        <p:spPr>
          <a:xfrm>
            <a:off x="8880311" y="3466137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0" name="pt-19"/>
          <p:cNvSpPr/>
          <p:nvPr/>
        </p:nvSpPr>
        <p:spPr>
          <a:xfrm>
            <a:off x="8593663" y="3086928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1" name="pt-20"/>
          <p:cNvSpPr/>
          <p:nvPr/>
        </p:nvSpPr>
        <p:spPr>
          <a:xfrm>
            <a:off x="8769183" y="3447001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2" name="pt-21"/>
          <p:cNvSpPr/>
          <p:nvPr/>
        </p:nvSpPr>
        <p:spPr>
          <a:xfrm>
            <a:off x="8926964" y="2772427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3" name="pt-22"/>
          <p:cNvSpPr/>
          <p:nvPr/>
        </p:nvSpPr>
        <p:spPr>
          <a:xfrm>
            <a:off x="9549803" y="3569935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4" name="pt-23"/>
          <p:cNvSpPr/>
          <p:nvPr/>
        </p:nvSpPr>
        <p:spPr>
          <a:xfrm>
            <a:off x="9158057" y="3021373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5" name="pt-24"/>
          <p:cNvSpPr/>
          <p:nvPr/>
        </p:nvSpPr>
        <p:spPr>
          <a:xfrm>
            <a:off x="9058914" y="3379184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6" name="pt-25"/>
          <p:cNvSpPr/>
          <p:nvPr/>
        </p:nvSpPr>
        <p:spPr>
          <a:xfrm>
            <a:off x="9003215" y="3079452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7" name="pt-26"/>
          <p:cNvSpPr/>
          <p:nvPr/>
        </p:nvSpPr>
        <p:spPr>
          <a:xfrm>
            <a:off x="10250288" y="4997969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8" name="pt-27"/>
          <p:cNvSpPr/>
          <p:nvPr/>
        </p:nvSpPr>
        <p:spPr>
          <a:xfrm>
            <a:off x="9768729" y="4354979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9" name="pt-28"/>
          <p:cNvSpPr/>
          <p:nvPr/>
        </p:nvSpPr>
        <p:spPr>
          <a:xfrm>
            <a:off x="10087201" y="3939453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0" name="pt-29"/>
          <p:cNvSpPr/>
          <p:nvPr/>
        </p:nvSpPr>
        <p:spPr>
          <a:xfrm>
            <a:off x="10208074" y="5168383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1" name="pt-30"/>
          <p:cNvSpPr/>
          <p:nvPr/>
        </p:nvSpPr>
        <p:spPr>
          <a:xfrm>
            <a:off x="10412576" y="5222015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2" name="pt-31"/>
          <p:cNvSpPr/>
          <p:nvPr/>
        </p:nvSpPr>
        <p:spPr>
          <a:xfrm>
            <a:off x="10291659" y="5062757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3" name="pt-32"/>
          <p:cNvSpPr/>
          <p:nvPr/>
        </p:nvSpPr>
        <p:spPr>
          <a:xfrm>
            <a:off x="10784466" y="4875941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4" name="pt-33"/>
          <p:cNvSpPr/>
          <p:nvPr/>
        </p:nvSpPr>
        <p:spPr>
          <a:xfrm>
            <a:off x="10218768" y="4912671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5" name="pt-34"/>
          <p:cNvSpPr/>
          <p:nvPr/>
        </p:nvSpPr>
        <p:spPr>
          <a:xfrm>
            <a:off x="10308389" y="5142977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6" name="pt-35"/>
          <p:cNvSpPr/>
          <p:nvPr/>
        </p:nvSpPr>
        <p:spPr>
          <a:xfrm>
            <a:off x="10235393" y="4711196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7" name="pt-36"/>
          <p:cNvSpPr/>
          <p:nvPr/>
        </p:nvSpPr>
        <p:spPr>
          <a:xfrm>
            <a:off x="9800864" y="4807550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8" name="pt-37"/>
          <p:cNvSpPr/>
          <p:nvPr/>
        </p:nvSpPr>
        <p:spPr>
          <a:xfrm>
            <a:off x="10507490" y="3948784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9" name="pt-38"/>
          <p:cNvSpPr/>
          <p:nvPr/>
        </p:nvSpPr>
        <p:spPr>
          <a:xfrm>
            <a:off x="10128081" y="4114150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0" name="pt-39"/>
          <p:cNvSpPr/>
          <p:nvPr/>
        </p:nvSpPr>
        <p:spPr>
          <a:xfrm>
            <a:off x="10277534" y="4209609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1" name="pt-40"/>
          <p:cNvSpPr/>
          <p:nvPr/>
        </p:nvSpPr>
        <p:spPr>
          <a:xfrm>
            <a:off x="10597066" y="4764696"/>
            <a:ext cx="100584" cy="100584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0927080" y="2468880"/>
            <a:ext cx="128016" cy="1280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366760" y="4663440"/>
            <a:ext cx="128016" cy="1280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11018520" y="3291840"/>
            <a:ext cx="128016" cy="1280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8641080" y="5394960"/>
            <a:ext cx="128016" cy="1280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092440" y="5715000"/>
            <a:ext cx="146304" cy="146304"/>
          </a:xfrm>
          <a:prstGeom prst="ellipse">
            <a:avLst/>
          </a:prstGeom>
          <a:solidFill>
            <a:srgbClr val="5FE0CB"/>
          </a:solidFill>
          <a:ln w="12700">
            <a:solidFill>
              <a:srgbClr val="5FE0CB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8321040" y="5641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Hotspot cluster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9829800" y="571500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10058400" y="5641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Isolated anomaly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02  •  BACKGROUND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4" name="card-41"/>
          <p:cNvSpPr/>
          <p:nvPr/>
        </p:nvSpPr>
        <p:spPr>
          <a:xfrm>
            <a:off x="548640" y="155448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42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43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Background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 traffic accidents remain a major public-safety challenge and often cluster at specific locations — poor road design, congestion, sharp turns, weak lighting and rule violations.</a:t>
            </a:r>
            <a:endParaRPr lang="en-US" sz="1400" dirty="0"/>
          </a:p>
        </p:txBody>
      </p:sp>
      <p:sp>
        <p:nvSpPr>
          <p:cNvPr id="9" name="card-44"/>
          <p:cNvSpPr/>
          <p:nvPr/>
        </p:nvSpPr>
        <p:spPr>
          <a:xfrm>
            <a:off x="4311396" y="155448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badge-45"/>
          <p:cNvSpPr/>
          <p:nvPr/>
        </p:nvSpPr>
        <p:spPr>
          <a:xfrm>
            <a:off x="4585716" y="182880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con-46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66" y="20002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5716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Domain overview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3108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Geospatial machine learning: geo-tagged accident records from government portals and open datasets let unsupervised algorithms find spatial patterns automatically.</a:t>
            </a:r>
            <a:endParaRPr lang="en-US" sz="1400" dirty="0"/>
          </a:p>
        </p:txBody>
      </p:sp>
      <p:sp>
        <p:nvSpPr>
          <p:cNvPr id="14" name="card-47"/>
          <p:cNvSpPr/>
          <p:nvPr/>
        </p:nvSpPr>
        <p:spPr>
          <a:xfrm>
            <a:off x="8074152" y="155448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badge-48"/>
          <p:cNvSpPr/>
          <p:nvPr/>
        </p:nvSpPr>
        <p:spPr>
          <a:xfrm>
            <a:off x="8348472" y="182880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icon-49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922" y="20002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Why it is needed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3108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analysis of accident reports is slow, inconsistent and hard to scale across regions. Authorities need an automated, repeatable way to find hotspots.</a:t>
            </a:r>
            <a:endParaRPr lang="en-US" sz="1400" dirty="0"/>
          </a:p>
        </p:txBody>
      </p:sp>
      <p:sp>
        <p:nvSpPr>
          <p:cNvPr id="19" name="card-50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badge-51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1" name="icon-52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55092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5166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Goal: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hotspot map that helps traffic authorities, urban planners and emergency services prioritise interventions and allocate resources effectively.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03  • 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4" name="card-53"/>
          <p:cNvSpPr/>
          <p:nvPr/>
        </p:nvSpPr>
        <p:spPr>
          <a:xfrm>
            <a:off x="548640" y="1554480"/>
            <a:ext cx="4206240" cy="457200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Accidents repeatedly strike the same places — yet finding those places by hand is slow, inconsistent and hard to scale.</a:t>
            </a:r>
            <a:endParaRPr lang="en-US" sz="2200" dirty="0"/>
          </a:p>
        </p:txBody>
      </p:sp>
      <p:sp>
        <p:nvSpPr>
          <p:cNvPr id="7" name="badge-54"/>
          <p:cNvSpPr/>
          <p:nvPr/>
        </p:nvSpPr>
        <p:spPr>
          <a:xfrm>
            <a:off x="914400" y="4937760"/>
            <a:ext cx="822960" cy="8229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8" name="icon-55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51435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4937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Recurring locations need targeted fixes — but first they must be found.</a:t>
            </a:r>
            <a:endParaRPr lang="en-US" sz="1400" dirty="0"/>
          </a:p>
        </p:txBody>
      </p:sp>
      <p:sp>
        <p:nvSpPr>
          <p:cNvPr id="10" name="card-56"/>
          <p:cNvSpPr/>
          <p:nvPr/>
        </p:nvSpPr>
        <p:spPr>
          <a:xfrm>
            <a:off x="4983480" y="1554480"/>
            <a:ext cx="6656832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30352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Limitations &amp; challenges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194560"/>
            <a:ext cx="5989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review of accident reports is slow and prone to oversight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consistent definition of a hotspot between analysts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Does not scale to multi-year, multi-city geo-tagged records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Isolated incidents get mixed up with true recurring hotspots</a:t>
            </a:r>
            <a:endParaRPr lang="en-US" sz="1400" dirty="0"/>
          </a:p>
        </p:txBody>
      </p:sp>
      <p:sp>
        <p:nvSpPr>
          <p:cNvPr id="13" name="card-57"/>
          <p:cNvSpPr/>
          <p:nvPr/>
        </p:nvSpPr>
        <p:spPr>
          <a:xfrm>
            <a:off x="4983480" y="4526280"/>
            <a:ext cx="6656832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03520" y="46817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is affected</a:t>
            </a:r>
            <a:endParaRPr lang="en-US" sz="1800" dirty="0"/>
          </a:p>
        </p:txBody>
      </p:sp>
      <p:sp>
        <p:nvSpPr>
          <p:cNvPr id="15" name="chip-58"/>
          <p:cNvSpPr txBox="1"/>
          <p:nvPr/>
        </p:nvSpPr>
        <p:spPr>
          <a:xfrm>
            <a:off x="5303520" y="5166360"/>
            <a:ext cx="13716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 users</a:t>
            </a:r>
            <a:endParaRPr lang="en-US" sz="1400" dirty="0"/>
          </a:p>
        </p:txBody>
      </p:sp>
      <p:sp>
        <p:nvSpPr>
          <p:cNvPr id="16" name="chip-59"/>
          <p:cNvSpPr txBox="1"/>
          <p:nvPr/>
        </p:nvSpPr>
        <p:spPr>
          <a:xfrm>
            <a:off x="6812280" y="5166360"/>
            <a:ext cx="21945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Traffic authorities</a:t>
            </a:r>
            <a:endParaRPr lang="en-US" sz="1400" dirty="0"/>
          </a:p>
        </p:txBody>
      </p:sp>
      <p:sp>
        <p:nvSpPr>
          <p:cNvPr id="17" name="chip-60"/>
          <p:cNvSpPr txBox="1"/>
          <p:nvPr/>
        </p:nvSpPr>
        <p:spPr>
          <a:xfrm>
            <a:off x="9144000" y="5166360"/>
            <a:ext cx="17373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Urban planners</a:t>
            </a:r>
            <a:endParaRPr lang="en-US" sz="1400" dirty="0"/>
          </a:p>
        </p:txBody>
      </p:sp>
      <p:sp>
        <p:nvSpPr>
          <p:cNvPr id="18" name="chip-61"/>
          <p:cNvSpPr txBox="1"/>
          <p:nvPr/>
        </p:nvSpPr>
        <p:spPr>
          <a:xfrm>
            <a:off x="5303520" y="5641848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Emergency services</a:t>
            </a:r>
            <a:endParaRPr lang="en-US" sz="1400" dirty="0"/>
          </a:p>
        </p:txBody>
      </p:sp>
      <p:sp>
        <p:nvSpPr>
          <p:cNvPr id="19" name="chip-62"/>
          <p:cNvSpPr txBox="1"/>
          <p:nvPr/>
        </p:nvSpPr>
        <p:spPr>
          <a:xfrm>
            <a:off x="7543800" y="5641848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Insurers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04  •  WHY THIS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Motivation</a:t>
            </a:r>
            <a:endParaRPr lang="en-US" sz="3400" dirty="0"/>
          </a:p>
        </p:txBody>
      </p:sp>
      <p:sp>
        <p:nvSpPr>
          <p:cNvPr id="4" name="card-63"/>
          <p:cNvSpPr/>
          <p:nvPr/>
        </p:nvSpPr>
        <p:spPr>
          <a:xfrm>
            <a:off x="548640" y="155448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64"/>
          <p:cNvSpPr/>
          <p:nvPr/>
        </p:nvSpPr>
        <p:spPr>
          <a:xfrm>
            <a:off x="777240" y="1938528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65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985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5448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Why we selected it</a:t>
            </a:r>
            <a:endParaRPr lang="en-US" sz="1700" dirty="0"/>
          </a:p>
        </p:txBody>
      </p:sp>
      <p:sp>
        <p:nvSpPr>
          <p:cNvPr id="8" name="card-66"/>
          <p:cNvSpPr/>
          <p:nvPr/>
        </p:nvSpPr>
        <p:spPr>
          <a:xfrm>
            <a:off x="3794760" y="1554480"/>
            <a:ext cx="784555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114800" y="1554480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Accident hotspots are a concrete, high-impact problem where unsupervised ML adds value without labelled data — and DBSCAN's noise handling suits messy geospatial records.</a:t>
            </a:r>
            <a:endParaRPr lang="en-US" sz="1500" dirty="0"/>
          </a:p>
        </p:txBody>
      </p:sp>
      <p:sp>
        <p:nvSpPr>
          <p:cNvPr id="10" name="card-67"/>
          <p:cNvSpPr/>
          <p:nvPr/>
        </p:nvSpPr>
        <p:spPr>
          <a:xfrm>
            <a:off x="548640" y="3127248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1" name="badge-68"/>
          <p:cNvSpPr/>
          <p:nvPr/>
        </p:nvSpPr>
        <p:spPr>
          <a:xfrm>
            <a:off x="777240" y="3511296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con-69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671316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3127248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Real-world need</a:t>
            </a:r>
            <a:endParaRPr lang="en-US" sz="1700" dirty="0"/>
          </a:p>
        </p:txBody>
      </p:sp>
      <p:sp>
        <p:nvSpPr>
          <p:cNvPr id="14" name="card-70"/>
          <p:cNvSpPr/>
          <p:nvPr/>
        </p:nvSpPr>
        <p:spPr>
          <a:xfrm>
            <a:off x="3794760" y="3127248"/>
            <a:ext cx="784555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114800" y="3127248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accident means lost lives, injuries and property damage. Authorities need to know where to act first, because repeat locations are where targeted fixes pay off most.</a:t>
            </a:r>
            <a:endParaRPr lang="en-US" sz="1500" dirty="0"/>
          </a:p>
        </p:txBody>
      </p:sp>
      <p:sp>
        <p:nvSpPr>
          <p:cNvPr id="16" name="card-71"/>
          <p:cNvSpPr/>
          <p:nvPr/>
        </p:nvSpPr>
        <p:spPr>
          <a:xfrm>
            <a:off x="548640" y="4700016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badge-72"/>
          <p:cNvSpPr/>
          <p:nvPr/>
        </p:nvSpPr>
        <p:spPr>
          <a:xfrm>
            <a:off x="777240" y="5084064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con-7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2440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700016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Research &amp; industry motivation</a:t>
            </a:r>
            <a:endParaRPr lang="en-US" sz="1700" dirty="0"/>
          </a:p>
        </p:txBody>
      </p:sp>
      <p:sp>
        <p:nvSpPr>
          <p:cNvPr id="20" name="card-74"/>
          <p:cNvSpPr/>
          <p:nvPr/>
        </p:nvSpPr>
        <p:spPr>
          <a:xfrm>
            <a:off x="3794760" y="4700016"/>
            <a:ext cx="784555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4114800" y="4700016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geo-tagged datasets (US Accidents, UK Road Safety, Indian Road Accident) and smart-city programmes make data-driven road-safety analysis practical.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05  •  AIMS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4" name="card-75"/>
          <p:cNvSpPr/>
          <p:nvPr/>
        </p:nvSpPr>
        <p:spPr>
          <a:xfrm>
            <a:off x="548640" y="1554480"/>
            <a:ext cx="4023360" cy="457200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76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6" name="icon-7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MAIN OBJECTIVE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9184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Build an ML-based system that automatically detects accident hotspots and isolates anomalous incidents using DBSCAN.</a:t>
            </a:r>
            <a:endParaRPr lang="en-US" sz="2000" dirty="0"/>
          </a:p>
        </p:txBody>
      </p:sp>
      <p:sp>
        <p:nvSpPr>
          <p:cNvPr id="9" name="card-78"/>
          <p:cNvSpPr/>
          <p:nvPr/>
        </p:nvSpPr>
        <p:spPr>
          <a:xfrm>
            <a:off x="4800600" y="1554480"/>
            <a:ext cx="68397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num-79"/>
          <p:cNvSpPr txBox="1"/>
          <p:nvPr/>
        </p:nvSpPr>
        <p:spPr>
          <a:xfrm>
            <a:off x="4983480" y="172821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55448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and preprocess geo-tagged accident records from a public dataset</a:t>
            </a:r>
            <a:endParaRPr lang="en-US" sz="1400" dirty="0"/>
          </a:p>
        </p:txBody>
      </p:sp>
      <p:sp>
        <p:nvSpPr>
          <p:cNvPr id="12" name="card-80"/>
          <p:cNvSpPr/>
          <p:nvPr/>
        </p:nvSpPr>
        <p:spPr>
          <a:xfrm>
            <a:off x="4800600" y="2496312"/>
            <a:ext cx="68397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3" name="num-81"/>
          <p:cNvSpPr txBox="1"/>
          <p:nvPr/>
        </p:nvSpPr>
        <p:spPr>
          <a:xfrm>
            <a:off x="4983480" y="267004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496312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Explore patterns by city, severity, time, cause and weather (EDA)</a:t>
            </a:r>
            <a:endParaRPr lang="en-US" sz="1400" dirty="0"/>
          </a:p>
        </p:txBody>
      </p:sp>
      <p:sp>
        <p:nvSpPr>
          <p:cNvPr id="15" name="card-82"/>
          <p:cNvSpPr/>
          <p:nvPr/>
        </p:nvSpPr>
        <p:spPr>
          <a:xfrm>
            <a:off x="4800600" y="3438144"/>
            <a:ext cx="68397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6" name="num-83"/>
          <p:cNvSpPr txBox="1"/>
          <p:nvPr/>
        </p:nvSpPr>
        <p:spPr>
          <a:xfrm>
            <a:off x="4983480" y="36118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3438144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city-wise DBSCAN with tuned eps and min_samples to find hotspots</a:t>
            </a:r>
            <a:endParaRPr lang="en-US" sz="1400" dirty="0"/>
          </a:p>
        </p:txBody>
      </p:sp>
      <p:sp>
        <p:nvSpPr>
          <p:cNvPr id="18" name="card-84"/>
          <p:cNvSpPr/>
          <p:nvPr/>
        </p:nvSpPr>
        <p:spPr>
          <a:xfrm>
            <a:off x="4800600" y="4379976"/>
            <a:ext cx="68397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9" name="num-85"/>
          <p:cNvSpPr txBox="1"/>
          <p:nvPr/>
        </p:nvSpPr>
        <p:spPr>
          <a:xfrm>
            <a:off x="4983480" y="45537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0" y="437997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 clusters with Silhouette, Davies–Bouldin and expert review</a:t>
            </a:r>
            <a:endParaRPr lang="en-US" sz="1400" dirty="0"/>
          </a:p>
        </p:txBody>
      </p:sp>
      <p:sp>
        <p:nvSpPr>
          <p:cNvPr id="21" name="card-86"/>
          <p:cNvSpPr/>
          <p:nvPr/>
        </p:nvSpPr>
        <p:spPr>
          <a:xfrm>
            <a:off x="4800600" y="5321808"/>
            <a:ext cx="683971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2" name="num-87"/>
          <p:cNvSpPr txBox="1"/>
          <p:nvPr/>
        </p:nvSpPr>
        <p:spPr>
          <a:xfrm>
            <a:off x="4983480" y="54955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5321808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Classify risk levels and visualise results on an interactive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06  •  CURRENT PRACTICE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Existing System</a:t>
            </a:r>
            <a:endParaRPr lang="en-US" sz="3400" dirty="0"/>
          </a:p>
        </p:txBody>
      </p:sp>
      <p:sp>
        <p:nvSpPr>
          <p:cNvPr id="4" name="card-88"/>
          <p:cNvSpPr/>
          <p:nvPr/>
        </p:nvSpPr>
        <p:spPr>
          <a:xfrm>
            <a:off x="548640" y="155448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89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6" name="icon-9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Current approach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Analysts manually read accident reports, tally incidents per location and mark high-count spots on static maps.</a:t>
            </a:r>
            <a:endParaRPr lang="en-US" sz="1400" dirty="0"/>
          </a:p>
        </p:txBody>
      </p:sp>
      <p:sp>
        <p:nvSpPr>
          <p:cNvPr id="9" name="card-91"/>
          <p:cNvSpPr/>
          <p:nvPr/>
        </p:nvSpPr>
        <p:spPr>
          <a:xfrm>
            <a:off x="548640" y="3840480"/>
            <a:ext cx="51206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badge-92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1" name="icon-9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1948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Existing technologies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754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Spreadsheets and statistical summaries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Static GIS or paper maps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Centroid-based clustering such as K-Means</a:t>
            </a:r>
            <a:endParaRPr lang="en-US" sz="1400" dirty="0"/>
          </a:p>
        </p:txBody>
      </p:sp>
      <p:sp>
        <p:nvSpPr>
          <p:cNvPr id="14" name="card-94"/>
          <p:cNvSpPr/>
          <p:nvPr/>
        </p:nvSpPr>
        <p:spPr>
          <a:xfrm>
            <a:off x="5897880" y="1554480"/>
            <a:ext cx="5742432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badge-95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6" name="icon-9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9088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783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51460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Slow, labour-intensive and inconsistent between analysts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Does not scale to large multi-year datasets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K-Means needs the number of clusters in advance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Centroid methods assume compact, round clusters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Outliers are forced into clusters instead of flagged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Static outputs — no interactive exploration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07  •  OUR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Proposed System</a:t>
            </a:r>
            <a:endParaRPr lang="en-US" sz="3400" dirty="0"/>
          </a:p>
        </p:txBody>
      </p:sp>
      <p:sp>
        <p:nvSpPr>
          <p:cNvPr id="4" name="card-97"/>
          <p:cNvSpPr/>
          <p:nvPr/>
        </p:nvSpPr>
        <p:spPr>
          <a:xfrm>
            <a:off x="548640" y="1554480"/>
            <a:ext cx="3931920" cy="457200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ROADLENS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An automated pipeline that runs city-wise DBSCAN on geo-tagged accident records and presents hotspots on an interactive dashboard.</a:t>
            </a:r>
            <a:endParaRPr lang="en-US" sz="1900" dirty="0"/>
          </a:p>
        </p:txBody>
      </p:sp>
      <p:sp>
        <p:nvSpPr>
          <p:cNvPr id="7" name="chip-98"/>
          <p:cNvSpPr txBox="1"/>
          <p:nvPr/>
        </p:nvSpPr>
        <p:spPr>
          <a:xfrm>
            <a:off x="914400" y="5120640"/>
            <a:ext cx="105156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DBSCAN</a:t>
            </a:r>
            <a:endParaRPr lang="en-US" sz="1300" dirty="0"/>
          </a:p>
        </p:txBody>
      </p:sp>
      <p:sp>
        <p:nvSpPr>
          <p:cNvPr id="8" name="chip-99"/>
          <p:cNvSpPr txBox="1"/>
          <p:nvPr/>
        </p:nvSpPr>
        <p:spPr>
          <a:xfrm>
            <a:off x="2075688" y="5120640"/>
            <a:ext cx="132588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Haversine</a:t>
            </a:r>
            <a:endParaRPr lang="en-US" sz="1300" dirty="0"/>
          </a:p>
        </p:txBody>
      </p:sp>
      <p:sp>
        <p:nvSpPr>
          <p:cNvPr id="9" name="chip-100"/>
          <p:cNvSpPr txBox="1"/>
          <p:nvPr/>
        </p:nvSpPr>
        <p:spPr>
          <a:xfrm>
            <a:off x="3511296" y="5120640"/>
            <a:ext cx="96012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Flask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5361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Each limitation of the existing approach is addressed:</a:t>
            </a:r>
            <a:endParaRPr lang="en-US" sz="1400" dirty="0"/>
          </a:p>
        </p:txBody>
      </p:sp>
      <p:sp>
        <p:nvSpPr>
          <p:cNvPr id="11" name="card-101"/>
          <p:cNvSpPr/>
          <p:nvPr/>
        </p:nvSpPr>
        <p:spPr>
          <a:xfrm>
            <a:off x="4754880" y="1938528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93852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Manual, slow analysis</a:t>
            </a:r>
            <a:endParaRPr lang="en-US" sz="1400" dirty="0"/>
          </a:p>
        </p:txBody>
      </p:sp>
      <p:sp>
        <p:nvSpPr>
          <p:cNvPr id="13" name="arrow-102"/>
          <p:cNvSpPr/>
          <p:nvPr/>
        </p:nvSpPr>
        <p:spPr>
          <a:xfrm>
            <a:off x="7790688" y="2148840"/>
            <a:ext cx="365760" cy="31089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ard-103"/>
          <p:cNvSpPr/>
          <p:nvPr/>
        </p:nvSpPr>
        <p:spPr>
          <a:xfrm>
            <a:off x="8275320" y="1938528"/>
            <a:ext cx="33649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58200" y="19385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Automated pipeline over geo-tagged records</a:t>
            </a:r>
            <a:endParaRPr lang="en-US" sz="1400" dirty="0"/>
          </a:p>
        </p:txBody>
      </p:sp>
      <p:sp>
        <p:nvSpPr>
          <p:cNvPr id="16" name="card-104"/>
          <p:cNvSpPr/>
          <p:nvPr/>
        </p:nvSpPr>
        <p:spPr>
          <a:xfrm>
            <a:off x="4754880" y="2779776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779776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 count fixed in advance</a:t>
            </a:r>
            <a:endParaRPr lang="en-US" sz="1400" dirty="0"/>
          </a:p>
        </p:txBody>
      </p:sp>
      <p:sp>
        <p:nvSpPr>
          <p:cNvPr id="18" name="arrow-105"/>
          <p:cNvSpPr/>
          <p:nvPr/>
        </p:nvSpPr>
        <p:spPr>
          <a:xfrm>
            <a:off x="7790688" y="2990088"/>
            <a:ext cx="365760" cy="31089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card-106"/>
          <p:cNvSpPr/>
          <p:nvPr/>
        </p:nvSpPr>
        <p:spPr>
          <a:xfrm>
            <a:off x="8275320" y="2779776"/>
            <a:ext cx="33649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58200" y="277977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DBSCAN finds hotspots without a preset k</a:t>
            </a:r>
            <a:endParaRPr lang="en-US" sz="1400" dirty="0"/>
          </a:p>
        </p:txBody>
      </p:sp>
      <p:sp>
        <p:nvSpPr>
          <p:cNvPr id="21" name="card-107"/>
          <p:cNvSpPr/>
          <p:nvPr/>
        </p:nvSpPr>
        <p:spPr>
          <a:xfrm>
            <a:off x="4754880" y="3621024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362102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Outliers forced into clusters</a:t>
            </a:r>
            <a:endParaRPr lang="en-US" sz="1400" dirty="0"/>
          </a:p>
        </p:txBody>
      </p:sp>
      <p:sp>
        <p:nvSpPr>
          <p:cNvPr id="23" name="arrow-108"/>
          <p:cNvSpPr/>
          <p:nvPr/>
        </p:nvSpPr>
        <p:spPr>
          <a:xfrm>
            <a:off x="7790688" y="3831336"/>
            <a:ext cx="365760" cy="31089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card-109"/>
          <p:cNvSpPr/>
          <p:nvPr/>
        </p:nvSpPr>
        <p:spPr>
          <a:xfrm>
            <a:off x="8275320" y="3621024"/>
            <a:ext cx="33649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58200" y="362102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Isolated incidents flagged as noise (−1)</a:t>
            </a:r>
            <a:endParaRPr lang="en-US" sz="1400" dirty="0"/>
          </a:p>
        </p:txBody>
      </p:sp>
      <p:sp>
        <p:nvSpPr>
          <p:cNvPr id="26" name="card-110"/>
          <p:cNvSpPr/>
          <p:nvPr/>
        </p:nvSpPr>
        <p:spPr>
          <a:xfrm>
            <a:off x="4754880" y="4462272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44622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Round-cluster assumption</a:t>
            </a:r>
            <a:endParaRPr lang="en-US" sz="1400" dirty="0"/>
          </a:p>
        </p:txBody>
      </p:sp>
      <p:sp>
        <p:nvSpPr>
          <p:cNvPr id="28" name="arrow-111"/>
          <p:cNvSpPr/>
          <p:nvPr/>
        </p:nvSpPr>
        <p:spPr>
          <a:xfrm>
            <a:off x="7790688" y="4672584"/>
            <a:ext cx="365760" cy="31089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card-112"/>
          <p:cNvSpPr/>
          <p:nvPr/>
        </p:nvSpPr>
        <p:spPr>
          <a:xfrm>
            <a:off x="8275320" y="4462272"/>
            <a:ext cx="33649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58200" y="44622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Density-based clusters of any shape</a:t>
            </a:r>
            <a:endParaRPr lang="en-US" sz="1400" dirty="0"/>
          </a:p>
        </p:txBody>
      </p:sp>
      <p:sp>
        <p:nvSpPr>
          <p:cNvPr id="31" name="card-113"/>
          <p:cNvSpPr/>
          <p:nvPr/>
        </p:nvSpPr>
        <p:spPr>
          <a:xfrm>
            <a:off x="4754880" y="5303520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5303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Static reports</a:t>
            </a:r>
            <a:endParaRPr lang="en-US" sz="1400" dirty="0"/>
          </a:p>
        </p:txBody>
      </p:sp>
      <p:sp>
        <p:nvSpPr>
          <p:cNvPr id="33" name="arrow-114"/>
          <p:cNvSpPr/>
          <p:nvPr/>
        </p:nvSpPr>
        <p:spPr>
          <a:xfrm>
            <a:off x="7790688" y="5513832"/>
            <a:ext cx="365760" cy="31089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card-115"/>
          <p:cNvSpPr/>
          <p:nvPr/>
        </p:nvSpPr>
        <p:spPr>
          <a:xfrm>
            <a:off x="8275320" y="5303520"/>
            <a:ext cx="336499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458200" y="5303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Interactive map, charts and CSV export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08  •  BLOCK DIAGRAM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4" name="card-116"/>
          <p:cNvSpPr/>
          <p:nvPr/>
        </p:nvSpPr>
        <p:spPr>
          <a:xfrm>
            <a:off x="548640" y="1554480"/>
            <a:ext cx="2514600" cy="45720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117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6" name="icon-11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INPUT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CSV accident records (Kaggle)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Latitude, longitude, city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Severity, cause, weather, hour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 parameters: min_samples, eps override</a:t>
            </a:r>
            <a:endParaRPr lang="en-US" sz="1400" dirty="0"/>
          </a:p>
        </p:txBody>
      </p:sp>
      <p:sp>
        <p:nvSpPr>
          <p:cNvPr id="9" name="arrow-119"/>
          <p:cNvSpPr/>
          <p:nvPr/>
        </p:nvSpPr>
        <p:spPr>
          <a:xfrm>
            <a:off x="3090672" y="3657600"/>
            <a:ext cx="292608" cy="38404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120"/>
          <p:cNvSpPr/>
          <p:nvPr/>
        </p:nvSpPr>
        <p:spPr>
          <a:xfrm>
            <a:off x="3401568" y="1554480"/>
            <a:ext cx="2514600" cy="45720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1" name="badge-121"/>
          <p:cNvSpPr/>
          <p:nvPr/>
        </p:nvSpPr>
        <p:spPr>
          <a:xfrm>
            <a:off x="3630168" y="182880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2" name="icon-12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19888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0168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PROCESSING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0168" y="31089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 and validate columns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 and range-check coordinates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Degrees to radians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 records by city</a:t>
            </a:r>
            <a:endParaRPr lang="en-US" sz="1400" dirty="0"/>
          </a:p>
        </p:txBody>
      </p:sp>
      <p:sp>
        <p:nvSpPr>
          <p:cNvPr id="15" name="arrow-123"/>
          <p:cNvSpPr/>
          <p:nvPr/>
        </p:nvSpPr>
        <p:spPr>
          <a:xfrm>
            <a:off x="5943600" y="3657600"/>
            <a:ext cx="292608" cy="38404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ard-124"/>
          <p:cNvSpPr/>
          <p:nvPr/>
        </p:nvSpPr>
        <p:spPr>
          <a:xfrm>
            <a:off x="6254496" y="1554480"/>
            <a:ext cx="2514600" cy="45720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badge-125"/>
          <p:cNvSpPr/>
          <p:nvPr/>
        </p:nvSpPr>
        <p:spPr>
          <a:xfrm>
            <a:off x="6483096" y="18288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con-12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9888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83096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ALGORITHM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31089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City-wise DBSCAN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Haversine distance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City-specific eps (km)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min_samples = 10, label −1 = noise</a:t>
            </a:r>
            <a:endParaRPr lang="en-US" sz="1400" dirty="0"/>
          </a:p>
        </p:txBody>
      </p:sp>
      <p:sp>
        <p:nvSpPr>
          <p:cNvPr id="21" name="arrow-127"/>
          <p:cNvSpPr/>
          <p:nvPr/>
        </p:nvSpPr>
        <p:spPr>
          <a:xfrm>
            <a:off x="8796528" y="3657600"/>
            <a:ext cx="292608" cy="38404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ard-128"/>
          <p:cNvSpPr/>
          <p:nvPr/>
        </p:nvSpPr>
        <p:spPr>
          <a:xfrm>
            <a:off x="9107424" y="1554480"/>
            <a:ext cx="2514600" cy="45720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3" name="badge-129"/>
          <p:cNvSpPr/>
          <p:nvPr/>
        </p:nvSpPr>
        <p:spPr>
          <a:xfrm>
            <a:off x="9336024" y="182880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4" name="icon-130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198882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36024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OUTPUT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36024" y="31089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Hotspot clusters and anomalies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/ Medium / Low risk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Silhouette and Davies–Bouldin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Map, charts, CSV export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09  •  WORKFLOW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Methodology</a:t>
            </a:r>
            <a:endParaRPr lang="en-US" sz="3400" dirty="0"/>
          </a:p>
        </p:txBody>
      </p:sp>
      <p:sp>
        <p:nvSpPr>
          <p:cNvPr id="4" name="card-131"/>
          <p:cNvSpPr/>
          <p:nvPr/>
        </p:nvSpPr>
        <p:spPr>
          <a:xfrm>
            <a:off x="54864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num-132"/>
          <p:cNvSpPr txBox="1"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 collection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6148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Indian Road Accident Dataset (Kaggle, 2022–2025)</a:t>
            </a:r>
            <a:endParaRPr lang="en-US" sz="1400" dirty="0"/>
          </a:p>
        </p:txBody>
      </p:sp>
      <p:sp>
        <p:nvSpPr>
          <p:cNvPr id="8" name="arrow-133"/>
          <p:cNvSpPr/>
          <p:nvPr/>
        </p:nvSpPr>
        <p:spPr>
          <a:xfrm>
            <a:off x="3172968" y="246888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134"/>
          <p:cNvSpPr/>
          <p:nvPr/>
        </p:nvSpPr>
        <p:spPr>
          <a:xfrm>
            <a:off x="3376879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num-135"/>
          <p:cNvSpPr txBox="1"/>
          <p:nvPr/>
        </p:nvSpPr>
        <p:spPr>
          <a:xfrm>
            <a:off x="3605479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05479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Preprocessing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5479" y="276148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coordinates, parse fields, drop invalid rows</a:t>
            </a:r>
            <a:endParaRPr lang="en-US" sz="1400" dirty="0"/>
          </a:p>
        </p:txBody>
      </p:sp>
      <p:sp>
        <p:nvSpPr>
          <p:cNvPr id="13" name="arrow-136"/>
          <p:cNvSpPr/>
          <p:nvPr/>
        </p:nvSpPr>
        <p:spPr>
          <a:xfrm>
            <a:off x="6001207" y="246888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ard-137"/>
          <p:cNvSpPr/>
          <p:nvPr/>
        </p:nvSpPr>
        <p:spPr>
          <a:xfrm>
            <a:off x="6205118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num-138"/>
          <p:cNvSpPr txBox="1"/>
          <p:nvPr/>
        </p:nvSpPr>
        <p:spPr>
          <a:xfrm>
            <a:off x="6433718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33718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EDA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33718" y="276148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City, severity, hour, cause, weather and traffic patterns</a:t>
            </a:r>
            <a:endParaRPr lang="en-US" sz="1400" dirty="0"/>
          </a:p>
        </p:txBody>
      </p:sp>
      <p:sp>
        <p:nvSpPr>
          <p:cNvPr id="18" name="arrow-139"/>
          <p:cNvSpPr/>
          <p:nvPr/>
        </p:nvSpPr>
        <p:spPr>
          <a:xfrm>
            <a:off x="8829446" y="246888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card-140"/>
          <p:cNvSpPr/>
          <p:nvPr/>
        </p:nvSpPr>
        <p:spPr>
          <a:xfrm>
            <a:off x="9033358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num-141"/>
          <p:cNvSpPr txBox="1"/>
          <p:nvPr/>
        </p:nvSpPr>
        <p:spPr>
          <a:xfrm>
            <a:off x="9261958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61958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Feature selection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61958" y="276148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Latitude and longitude drive clustering; other fields profile hotspots</a:t>
            </a:r>
            <a:endParaRPr lang="en-US" sz="1400" dirty="0"/>
          </a:p>
        </p:txBody>
      </p:sp>
      <p:sp>
        <p:nvSpPr>
          <p:cNvPr id="23" name="card-142"/>
          <p:cNvSpPr/>
          <p:nvPr/>
        </p:nvSpPr>
        <p:spPr>
          <a:xfrm>
            <a:off x="548640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4" name="num-143"/>
          <p:cNvSpPr txBox="1"/>
          <p:nvPr/>
        </p:nvSpPr>
        <p:spPr>
          <a:xfrm>
            <a:off x="777240" y="4178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DBSCAN clustering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1846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City-wise, Haversine distance, tuned eps, min_samples = 10</a:t>
            </a:r>
            <a:endParaRPr lang="en-US" sz="1400" dirty="0"/>
          </a:p>
        </p:txBody>
      </p:sp>
      <p:sp>
        <p:nvSpPr>
          <p:cNvPr id="27" name="arrow-144"/>
          <p:cNvSpPr/>
          <p:nvPr/>
        </p:nvSpPr>
        <p:spPr>
          <a:xfrm>
            <a:off x="3172968" y="4892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card-145"/>
          <p:cNvSpPr/>
          <p:nvPr/>
        </p:nvSpPr>
        <p:spPr>
          <a:xfrm>
            <a:off x="3376879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9" name="num-146"/>
          <p:cNvSpPr txBox="1"/>
          <p:nvPr/>
        </p:nvSpPr>
        <p:spPr>
          <a:xfrm>
            <a:off x="3605479" y="4178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605479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Evaluation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605479" y="51846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Silhouette, Davies–Bouldin, noise share and expert review</a:t>
            </a:r>
            <a:endParaRPr lang="en-US" sz="1400" dirty="0"/>
          </a:p>
        </p:txBody>
      </p:sp>
      <p:sp>
        <p:nvSpPr>
          <p:cNvPr id="32" name="arrow-147"/>
          <p:cNvSpPr/>
          <p:nvPr/>
        </p:nvSpPr>
        <p:spPr>
          <a:xfrm>
            <a:off x="6001207" y="4892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card-148"/>
          <p:cNvSpPr/>
          <p:nvPr/>
        </p:nvSpPr>
        <p:spPr>
          <a:xfrm>
            <a:off x="6205118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4" name="num-149"/>
          <p:cNvSpPr txBox="1"/>
          <p:nvPr/>
        </p:nvSpPr>
        <p:spPr>
          <a:xfrm>
            <a:off x="6433718" y="4178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33718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Risk labelling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433718" y="51846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/ Medium / Low by cluster size; isolated = anomaly</a:t>
            </a:r>
            <a:endParaRPr lang="en-US" sz="1400" dirty="0"/>
          </a:p>
        </p:txBody>
      </p:sp>
      <p:sp>
        <p:nvSpPr>
          <p:cNvPr id="37" name="arrow-150"/>
          <p:cNvSpPr/>
          <p:nvPr/>
        </p:nvSpPr>
        <p:spPr>
          <a:xfrm>
            <a:off x="8829446" y="4892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card-151"/>
          <p:cNvSpPr/>
          <p:nvPr/>
        </p:nvSpPr>
        <p:spPr>
          <a:xfrm>
            <a:off x="9033358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9" name="num-152"/>
          <p:cNvSpPr txBox="1"/>
          <p:nvPr/>
        </p:nvSpPr>
        <p:spPr>
          <a:xfrm>
            <a:off x="9261958" y="41788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261958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Visualisation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9261958" y="51846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Interactive map, charts, hotspot table and CSV export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10  • 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4" name="card-153"/>
          <p:cNvSpPr/>
          <p:nvPr/>
        </p:nvSpPr>
        <p:spPr>
          <a:xfrm>
            <a:off x="548640" y="1554480"/>
            <a:ext cx="2651760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badge-154"/>
          <p:cNvSpPr/>
          <p:nvPr/>
        </p:nvSpPr>
        <p:spPr>
          <a:xfrm>
            <a:off x="685800" y="164592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155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69364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54480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card-156"/>
          <p:cNvSpPr/>
          <p:nvPr/>
        </p:nvSpPr>
        <p:spPr>
          <a:xfrm>
            <a:off x="3291840" y="1554480"/>
            <a:ext cx="83484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chip-157"/>
          <p:cNvSpPr txBox="1"/>
          <p:nvPr/>
        </p:nvSpPr>
        <p:spPr>
          <a:xfrm>
            <a:off x="3520440" y="1700784"/>
            <a:ext cx="13716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3.x</a:t>
            </a:r>
            <a:endParaRPr lang="en-US" sz="1400" dirty="0"/>
          </a:p>
        </p:txBody>
      </p:sp>
      <p:sp>
        <p:nvSpPr>
          <p:cNvPr id="10" name="card-158"/>
          <p:cNvSpPr/>
          <p:nvPr/>
        </p:nvSpPr>
        <p:spPr>
          <a:xfrm>
            <a:off x="548640" y="2331720"/>
            <a:ext cx="2651760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badge-159"/>
          <p:cNvSpPr/>
          <p:nvPr/>
        </p:nvSpPr>
        <p:spPr>
          <a:xfrm>
            <a:off x="685800" y="242316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con-160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54660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331720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Frameworks</a:t>
            </a:r>
            <a:endParaRPr lang="en-US" sz="1600" dirty="0"/>
          </a:p>
        </p:txBody>
      </p:sp>
      <p:sp>
        <p:nvSpPr>
          <p:cNvPr id="14" name="card-161"/>
          <p:cNvSpPr/>
          <p:nvPr/>
        </p:nvSpPr>
        <p:spPr>
          <a:xfrm>
            <a:off x="3291840" y="2331720"/>
            <a:ext cx="83484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chip-162"/>
          <p:cNvSpPr txBox="1"/>
          <p:nvPr/>
        </p:nvSpPr>
        <p:spPr>
          <a:xfrm>
            <a:off x="3520440" y="2478024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</a:t>
            </a:r>
            <a:endParaRPr lang="en-US" sz="1400" dirty="0"/>
          </a:p>
        </p:txBody>
      </p:sp>
      <p:sp>
        <p:nvSpPr>
          <p:cNvPr id="16" name="chip-163"/>
          <p:cNvSpPr txBox="1"/>
          <p:nvPr/>
        </p:nvSpPr>
        <p:spPr>
          <a:xfrm>
            <a:off x="4572000" y="2478024"/>
            <a:ext cx="155448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7" name="card-164"/>
          <p:cNvSpPr/>
          <p:nvPr/>
        </p:nvSpPr>
        <p:spPr>
          <a:xfrm>
            <a:off x="548640" y="3108960"/>
            <a:ext cx="2651760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badge-165"/>
          <p:cNvSpPr/>
          <p:nvPr/>
        </p:nvSpPr>
        <p:spPr>
          <a:xfrm>
            <a:off x="685800" y="320040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icon-16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323844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108960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Libraries</a:t>
            </a:r>
            <a:endParaRPr lang="en-US" sz="1600" dirty="0"/>
          </a:p>
        </p:txBody>
      </p:sp>
      <p:sp>
        <p:nvSpPr>
          <p:cNvPr id="21" name="card-167"/>
          <p:cNvSpPr/>
          <p:nvPr/>
        </p:nvSpPr>
        <p:spPr>
          <a:xfrm>
            <a:off x="3291840" y="3108960"/>
            <a:ext cx="83484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chip-168"/>
          <p:cNvSpPr txBox="1"/>
          <p:nvPr/>
        </p:nvSpPr>
        <p:spPr>
          <a:xfrm>
            <a:off x="3520440" y="3255264"/>
            <a:ext cx="10058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Pandas</a:t>
            </a:r>
            <a:endParaRPr lang="en-US" sz="1400" dirty="0"/>
          </a:p>
        </p:txBody>
      </p:sp>
      <p:sp>
        <p:nvSpPr>
          <p:cNvPr id="23" name="chip-169"/>
          <p:cNvSpPr txBox="1"/>
          <p:nvPr/>
        </p:nvSpPr>
        <p:spPr>
          <a:xfrm>
            <a:off x="4663440" y="3255264"/>
            <a:ext cx="9144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NumPy</a:t>
            </a:r>
            <a:endParaRPr lang="en-US" sz="1400" dirty="0"/>
          </a:p>
        </p:txBody>
      </p:sp>
      <p:sp>
        <p:nvSpPr>
          <p:cNvPr id="24" name="chip-170"/>
          <p:cNvSpPr txBox="1"/>
          <p:nvPr/>
        </p:nvSpPr>
        <p:spPr>
          <a:xfrm>
            <a:off x="5715000" y="3255264"/>
            <a:ext cx="13716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Matplotlib</a:t>
            </a:r>
            <a:endParaRPr lang="en-US" sz="1400" dirty="0"/>
          </a:p>
        </p:txBody>
      </p:sp>
      <p:sp>
        <p:nvSpPr>
          <p:cNvPr id="25" name="chip-171"/>
          <p:cNvSpPr txBox="1"/>
          <p:nvPr/>
        </p:nvSpPr>
        <p:spPr>
          <a:xfrm>
            <a:off x="7223760" y="3255264"/>
            <a:ext cx="109728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Seaborn</a:t>
            </a:r>
            <a:endParaRPr lang="en-US" sz="1400" dirty="0"/>
          </a:p>
        </p:txBody>
      </p:sp>
      <p:sp>
        <p:nvSpPr>
          <p:cNvPr id="26" name="chip-172"/>
          <p:cNvSpPr txBox="1"/>
          <p:nvPr/>
        </p:nvSpPr>
        <p:spPr>
          <a:xfrm>
            <a:off x="8458200" y="3255264"/>
            <a:ext cx="10058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Folium</a:t>
            </a:r>
            <a:endParaRPr lang="en-US" sz="1400" dirty="0"/>
          </a:p>
        </p:txBody>
      </p:sp>
      <p:sp>
        <p:nvSpPr>
          <p:cNvPr id="27" name="chip-173"/>
          <p:cNvSpPr txBox="1"/>
          <p:nvPr/>
        </p:nvSpPr>
        <p:spPr>
          <a:xfrm>
            <a:off x="9601200" y="3255264"/>
            <a:ext cx="10058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Plotly</a:t>
            </a:r>
            <a:endParaRPr lang="en-US" sz="1400" dirty="0"/>
          </a:p>
        </p:txBody>
      </p:sp>
      <p:sp>
        <p:nvSpPr>
          <p:cNvPr id="28" name="card-174"/>
          <p:cNvSpPr/>
          <p:nvPr/>
        </p:nvSpPr>
        <p:spPr>
          <a:xfrm>
            <a:off x="548640" y="3886200"/>
            <a:ext cx="2651760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badge-175"/>
          <p:cNvSpPr/>
          <p:nvPr/>
        </p:nvSpPr>
        <p:spPr>
          <a:xfrm>
            <a:off x="685800" y="397764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con-176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101084"/>
            <a:ext cx="246888" cy="24688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325880" y="3886200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 end</a:t>
            </a:r>
            <a:endParaRPr lang="en-US" sz="1600" dirty="0"/>
          </a:p>
        </p:txBody>
      </p:sp>
      <p:sp>
        <p:nvSpPr>
          <p:cNvPr id="32" name="card-177"/>
          <p:cNvSpPr/>
          <p:nvPr/>
        </p:nvSpPr>
        <p:spPr>
          <a:xfrm>
            <a:off x="3291840" y="3886200"/>
            <a:ext cx="83484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3" name="chip-178"/>
          <p:cNvSpPr txBox="1"/>
          <p:nvPr/>
        </p:nvSpPr>
        <p:spPr>
          <a:xfrm>
            <a:off x="3520440" y="4032504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 / CSS / JS</a:t>
            </a:r>
            <a:endParaRPr lang="en-US" sz="1400" dirty="0"/>
          </a:p>
        </p:txBody>
      </p:sp>
      <p:sp>
        <p:nvSpPr>
          <p:cNvPr id="34" name="chip-179"/>
          <p:cNvSpPr txBox="1"/>
          <p:nvPr/>
        </p:nvSpPr>
        <p:spPr>
          <a:xfrm>
            <a:off x="5486400" y="4032504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Chart.js</a:t>
            </a:r>
            <a:endParaRPr lang="en-US" sz="1400" dirty="0"/>
          </a:p>
        </p:txBody>
      </p:sp>
      <p:sp>
        <p:nvSpPr>
          <p:cNvPr id="35" name="chip-180"/>
          <p:cNvSpPr txBox="1"/>
          <p:nvPr/>
        </p:nvSpPr>
        <p:spPr>
          <a:xfrm>
            <a:off x="6812280" y="4032504"/>
            <a:ext cx="13716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Leaflet.js</a:t>
            </a:r>
            <a:endParaRPr lang="en-US" sz="1400" dirty="0"/>
          </a:p>
        </p:txBody>
      </p:sp>
      <p:sp>
        <p:nvSpPr>
          <p:cNvPr id="36" name="card-181"/>
          <p:cNvSpPr/>
          <p:nvPr/>
        </p:nvSpPr>
        <p:spPr>
          <a:xfrm>
            <a:off x="548640" y="4663440"/>
            <a:ext cx="2651760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badge-182"/>
          <p:cNvSpPr/>
          <p:nvPr/>
        </p:nvSpPr>
        <p:spPr>
          <a:xfrm>
            <a:off x="685800" y="475488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8" name="icon-183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878324"/>
            <a:ext cx="246888" cy="24688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325880" y="4663440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Database</a:t>
            </a:r>
            <a:endParaRPr lang="en-US" sz="1600" dirty="0"/>
          </a:p>
        </p:txBody>
      </p:sp>
      <p:sp>
        <p:nvSpPr>
          <p:cNvPr id="40" name="card-184"/>
          <p:cNvSpPr/>
          <p:nvPr/>
        </p:nvSpPr>
        <p:spPr>
          <a:xfrm>
            <a:off x="3291840" y="4663440"/>
            <a:ext cx="83484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1" name="chip-185"/>
          <p:cNvSpPr txBox="1"/>
          <p:nvPr/>
        </p:nvSpPr>
        <p:spPr>
          <a:xfrm>
            <a:off x="3520440" y="4809744"/>
            <a:ext cx="19202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in / CSV out</a:t>
            </a:r>
            <a:endParaRPr lang="en-US" sz="1400" dirty="0"/>
          </a:p>
        </p:txBody>
      </p:sp>
      <p:sp>
        <p:nvSpPr>
          <p:cNvPr id="42" name="chip-186"/>
          <p:cNvSpPr txBox="1"/>
          <p:nvPr/>
        </p:nvSpPr>
        <p:spPr>
          <a:xfrm>
            <a:off x="5577840" y="4809744"/>
            <a:ext cx="292608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database server required</a:t>
            </a:r>
            <a:endParaRPr lang="en-US" sz="1400" dirty="0"/>
          </a:p>
        </p:txBody>
      </p:sp>
      <p:sp>
        <p:nvSpPr>
          <p:cNvPr id="43" name="card-187"/>
          <p:cNvSpPr/>
          <p:nvPr/>
        </p:nvSpPr>
        <p:spPr>
          <a:xfrm>
            <a:off x="548640" y="5440680"/>
            <a:ext cx="2651760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badge-188"/>
          <p:cNvSpPr/>
          <p:nvPr/>
        </p:nvSpPr>
        <p:spPr>
          <a:xfrm>
            <a:off x="685800" y="553212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5" name="icon-189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5655564"/>
            <a:ext cx="246888" cy="246888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325880" y="5440680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47" name="card-190"/>
          <p:cNvSpPr/>
          <p:nvPr/>
        </p:nvSpPr>
        <p:spPr>
          <a:xfrm>
            <a:off x="3291840" y="5440680"/>
            <a:ext cx="8348472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8" name="chip-191"/>
          <p:cNvSpPr txBox="1"/>
          <p:nvPr/>
        </p:nvSpPr>
        <p:spPr>
          <a:xfrm>
            <a:off x="3520440" y="5586984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 / Colab / VS Code</a:t>
            </a:r>
            <a:endParaRPr lang="en-US" sz="1400" dirty="0"/>
          </a:p>
        </p:txBody>
      </p:sp>
      <p:sp>
        <p:nvSpPr>
          <p:cNvPr id="49" name="chip-192"/>
          <p:cNvSpPr txBox="1"/>
          <p:nvPr/>
        </p:nvSpPr>
        <p:spPr>
          <a:xfrm>
            <a:off x="6400800" y="5586984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Windows / Linux / macOS</a:t>
            </a:r>
            <a:endParaRPr lang="en-US" sz="1400" dirty="0"/>
          </a:p>
        </p:txBody>
      </p:sp>
      <p:sp>
        <p:nvSpPr>
          <p:cNvPr id="50" name="chip-193"/>
          <p:cNvSpPr txBox="1"/>
          <p:nvPr/>
        </p:nvSpPr>
        <p:spPr>
          <a:xfrm>
            <a:off x="9098280" y="5586984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laptop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11  •  COMPONENTS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Modules</a:t>
            </a:r>
            <a:endParaRPr lang="en-US" sz="3400" dirty="0"/>
          </a:p>
        </p:txBody>
      </p:sp>
      <p:sp>
        <p:nvSpPr>
          <p:cNvPr id="4" name="card-194"/>
          <p:cNvSpPr/>
          <p:nvPr/>
        </p:nvSpPr>
        <p:spPr>
          <a:xfrm>
            <a:off x="548640" y="1554480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195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6" name="icon-196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54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Interface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dashboard: upload, parameters, city filter</a:t>
            </a:r>
            <a:endParaRPr lang="en-US" sz="1400" dirty="0"/>
          </a:p>
        </p:txBody>
      </p:sp>
      <p:sp>
        <p:nvSpPr>
          <p:cNvPr id="8" name="card-197"/>
          <p:cNvSpPr/>
          <p:nvPr/>
        </p:nvSpPr>
        <p:spPr>
          <a:xfrm>
            <a:off x="6153912" y="1554480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9" name="badge-198"/>
          <p:cNvSpPr/>
          <p:nvPr/>
        </p:nvSpPr>
        <p:spPr>
          <a:xfrm>
            <a:off x="6382512" y="173736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0" name="icon-199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554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Collection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Kaggle CSV upload or built-in synthetic demo</a:t>
            </a:r>
            <a:endParaRPr lang="en-US" sz="1400" dirty="0"/>
          </a:p>
        </p:txBody>
      </p:sp>
      <p:sp>
        <p:nvSpPr>
          <p:cNvPr id="12" name="card-200"/>
          <p:cNvSpPr/>
          <p:nvPr/>
        </p:nvSpPr>
        <p:spPr>
          <a:xfrm>
            <a:off x="548640" y="2715768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3" name="badge-201"/>
          <p:cNvSpPr/>
          <p:nvPr/>
        </p:nvSpPr>
        <p:spPr>
          <a:xfrm>
            <a:off x="777240" y="2898648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4" name="icon-20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05866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271576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Preprocessing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Column detection, coordinate cleaning, radians</a:t>
            </a:r>
            <a:endParaRPr lang="en-US" sz="1400" dirty="0"/>
          </a:p>
        </p:txBody>
      </p:sp>
      <p:sp>
        <p:nvSpPr>
          <p:cNvPr id="16" name="card-203"/>
          <p:cNvSpPr/>
          <p:nvPr/>
        </p:nvSpPr>
        <p:spPr>
          <a:xfrm>
            <a:off x="6153912" y="2715768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badge-204"/>
          <p:cNvSpPr/>
          <p:nvPr/>
        </p:nvSpPr>
        <p:spPr>
          <a:xfrm>
            <a:off x="6382512" y="2898648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8" name="icon-205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305866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05472" y="271576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Core ML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City-wise DBSCAN with the Haversine metric</a:t>
            </a:r>
            <a:endParaRPr lang="en-US" sz="1400" dirty="0"/>
          </a:p>
        </p:txBody>
      </p:sp>
      <p:sp>
        <p:nvSpPr>
          <p:cNvPr id="20" name="card-206"/>
          <p:cNvSpPr/>
          <p:nvPr/>
        </p:nvSpPr>
        <p:spPr>
          <a:xfrm>
            <a:off x="548640" y="3877056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1" name="badge-207"/>
          <p:cNvSpPr/>
          <p:nvPr/>
        </p:nvSpPr>
        <p:spPr>
          <a:xfrm>
            <a:off x="777240" y="4059936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2" name="icon-208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19956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3877056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Decision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Relative High / Medium / Low risk labels</a:t>
            </a:r>
            <a:endParaRPr lang="en-US" sz="1400" dirty="0"/>
          </a:p>
        </p:txBody>
      </p:sp>
      <p:sp>
        <p:nvSpPr>
          <p:cNvPr id="24" name="card-209"/>
          <p:cNvSpPr/>
          <p:nvPr/>
        </p:nvSpPr>
        <p:spPr>
          <a:xfrm>
            <a:off x="6153912" y="3877056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5" name="badge-210"/>
          <p:cNvSpPr/>
          <p:nvPr/>
        </p:nvSpPr>
        <p:spPr>
          <a:xfrm>
            <a:off x="6382512" y="4059936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6" name="icon-211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532" y="4219956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05472" y="3877056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Visualisation &amp; Reporting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Leaflet map, Chart.js charts, CSV export</a:t>
            </a:r>
            <a:endParaRPr lang="en-US" sz="1400" dirty="0"/>
          </a:p>
        </p:txBody>
      </p:sp>
      <p:sp>
        <p:nvSpPr>
          <p:cNvPr id="28" name="card-212"/>
          <p:cNvSpPr/>
          <p:nvPr/>
        </p:nvSpPr>
        <p:spPr>
          <a:xfrm>
            <a:off x="548640" y="5038344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9" name="badge-213"/>
          <p:cNvSpPr/>
          <p:nvPr/>
        </p:nvSpPr>
        <p:spPr>
          <a:xfrm>
            <a:off x="777240" y="5221224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0" name="icon-214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381244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600200" y="503834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files only — no database server</a:t>
            </a:r>
            <a:endParaRPr lang="en-US" sz="1400" dirty="0"/>
          </a:p>
        </p:txBody>
      </p:sp>
      <p:sp>
        <p:nvSpPr>
          <p:cNvPr id="32" name="card-215"/>
          <p:cNvSpPr/>
          <p:nvPr/>
        </p:nvSpPr>
        <p:spPr>
          <a:xfrm>
            <a:off x="6153912" y="5038344"/>
            <a:ext cx="5486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3" name="badge-216"/>
          <p:cNvSpPr/>
          <p:nvPr/>
        </p:nvSpPr>
        <p:spPr>
          <a:xfrm>
            <a:off x="6382512" y="5221224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4" name="icon-217" descr="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532" y="5381244"/>
            <a:ext cx="320040" cy="32004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05472" y="503834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 &amp; Validation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CSV-only, 25 MB cap, parameter range checks, local processing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12  •  BUILD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</a:t>
            </a:r>
            <a:endParaRPr lang="en-US" sz="3400" dirty="0"/>
          </a:p>
        </p:txBody>
      </p:sp>
      <p:sp>
        <p:nvSpPr>
          <p:cNvPr id="4" name="card-218"/>
          <p:cNvSpPr/>
          <p:nvPr/>
        </p:nvSpPr>
        <p:spPr>
          <a:xfrm>
            <a:off x="548640" y="1554480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num-219"/>
          <p:cNvSpPr txBox="1"/>
          <p:nvPr/>
        </p:nvSpPr>
        <p:spPr>
          <a:xfrm>
            <a:off x="731520" y="172821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Auto-detect latitude, longitude and city columns</a:t>
            </a:r>
            <a:endParaRPr lang="en-US" sz="1400" dirty="0"/>
          </a:p>
        </p:txBody>
      </p:sp>
      <p:sp>
        <p:nvSpPr>
          <p:cNvPr id="7" name="card-220"/>
          <p:cNvSpPr/>
          <p:nvPr/>
        </p:nvSpPr>
        <p:spPr>
          <a:xfrm>
            <a:off x="548640" y="2487168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8" name="num-221"/>
          <p:cNvSpPr txBox="1"/>
          <p:nvPr/>
        </p:nvSpPr>
        <p:spPr>
          <a:xfrm>
            <a:off x="731520" y="26609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871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Numeric coercion, range check, drop missing rows</a:t>
            </a:r>
            <a:endParaRPr lang="en-US" sz="1400" dirty="0"/>
          </a:p>
        </p:txBody>
      </p:sp>
      <p:sp>
        <p:nvSpPr>
          <p:cNvPr id="10" name="card-222"/>
          <p:cNvSpPr/>
          <p:nvPr/>
        </p:nvSpPr>
        <p:spPr>
          <a:xfrm>
            <a:off x="548640" y="3419856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1" name="num-223"/>
          <p:cNvSpPr txBox="1"/>
          <p:nvPr/>
        </p:nvSpPr>
        <p:spPr>
          <a:xfrm>
            <a:off x="731520" y="359359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198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Cluster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DBSCAN per city on radian coordinates</a:t>
            </a:r>
            <a:endParaRPr lang="en-US" sz="1400" dirty="0"/>
          </a:p>
        </p:txBody>
      </p:sp>
      <p:sp>
        <p:nvSpPr>
          <p:cNvPr id="13" name="card-224"/>
          <p:cNvSpPr/>
          <p:nvPr/>
        </p:nvSpPr>
        <p:spPr>
          <a:xfrm>
            <a:off x="548640" y="4352544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4" name="num-225"/>
          <p:cNvSpPr txBox="1"/>
          <p:nvPr/>
        </p:nvSpPr>
        <p:spPr>
          <a:xfrm>
            <a:off x="731520" y="45262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525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Merge labels, profile clusters, compute metrics</a:t>
            </a:r>
            <a:endParaRPr lang="en-US" sz="1400" dirty="0"/>
          </a:p>
        </p:txBody>
      </p:sp>
      <p:sp>
        <p:nvSpPr>
          <p:cNvPr id="16" name="card-226"/>
          <p:cNvSpPr/>
          <p:nvPr/>
        </p:nvSpPr>
        <p:spPr>
          <a:xfrm>
            <a:off x="548640" y="5285232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num-227"/>
          <p:cNvSpPr txBox="1"/>
          <p:nvPr/>
        </p:nvSpPr>
        <p:spPr>
          <a:xfrm>
            <a:off x="731520" y="54589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2852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returns JSON for charts, map and table</a:t>
            </a:r>
            <a:endParaRPr lang="en-US" sz="1400" dirty="0"/>
          </a:p>
        </p:txBody>
      </p:sp>
      <p:sp>
        <p:nvSpPr>
          <p:cNvPr id="19" name="card-228"/>
          <p:cNvSpPr/>
          <p:nvPr/>
        </p:nvSpPr>
        <p:spPr>
          <a:xfrm>
            <a:off x="6309360" y="1554480"/>
            <a:ext cx="5330952" cy="3429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scikit-learn  •  core of the model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1488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 = np.radians(city_df[['lat', 'lon']])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DBSCAN(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eps=eps_km / 6371.0,   # km to radians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min_samples=10,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metric='haversine',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algorithm='ball_tree'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FE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).fit_predict(coords)      # -1 = noise</a:t>
            </a:r>
            <a:endParaRPr lang="en-US" sz="1300" dirty="0"/>
          </a:p>
        </p:txBody>
      </p:sp>
      <p:sp>
        <p:nvSpPr>
          <p:cNvPr id="22" name="card-229"/>
          <p:cNvSpPr/>
          <p:nvPr/>
        </p:nvSpPr>
        <p:spPr>
          <a:xfrm>
            <a:off x="6309360" y="5212080"/>
            <a:ext cx="533095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3" name="badge-230"/>
          <p:cNvSpPr/>
          <p:nvPr/>
        </p:nvSpPr>
        <p:spPr>
          <a:xfrm>
            <a:off x="6492240" y="534924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4" name="icon-23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260" y="550926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269480" y="5212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Silhouette and Davies–Bouldin are computed on km-projected coordinates when at least two clusters exist.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13  •  INPUT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</a:t>
            </a:r>
            <a:endParaRPr lang="en-US" sz="3400" dirty="0"/>
          </a:p>
        </p:txBody>
      </p:sp>
      <p:sp>
        <p:nvSpPr>
          <p:cNvPr id="4" name="card-232"/>
          <p:cNvSpPr/>
          <p:nvPr/>
        </p:nvSpPr>
        <p:spPr>
          <a:xfrm>
            <a:off x="548640" y="155448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Kaggle — Indian Road Accident Dataset</a:t>
            </a:r>
            <a:endParaRPr lang="en-US" sz="1600" dirty="0"/>
          </a:p>
        </p:txBody>
      </p:sp>
      <p:sp>
        <p:nvSpPr>
          <p:cNvPr id="7" name="card-233"/>
          <p:cNvSpPr/>
          <p:nvPr/>
        </p:nvSpPr>
        <p:spPr>
          <a:xfrm>
            <a:off x="4311396" y="155448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5716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PERIOD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85716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2022 – 2025</a:t>
            </a:r>
            <a:endParaRPr lang="en-US" sz="1600" dirty="0"/>
          </a:p>
        </p:txBody>
      </p:sp>
      <p:sp>
        <p:nvSpPr>
          <p:cNvPr id="10" name="card-234"/>
          <p:cNvSpPr/>
          <p:nvPr/>
        </p:nvSpPr>
        <p:spPr>
          <a:xfrm>
            <a:off x="8074152" y="155448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48472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CITIES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 cities, clustered separately</a:t>
            </a:r>
            <a:endParaRPr lang="en-US" sz="1600" dirty="0"/>
          </a:p>
        </p:txBody>
      </p:sp>
      <p:sp>
        <p:nvSpPr>
          <p:cNvPr id="13" name="card-235"/>
          <p:cNvSpPr/>
          <p:nvPr/>
        </p:nvSpPr>
        <p:spPr>
          <a:xfrm>
            <a:off x="548640" y="2743200"/>
            <a:ext cx="60350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2852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attributes (used when present in the CSV)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4612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Location: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latitude, longitude, city, state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Time: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date, hour, day of week, festival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Road &amp; weather: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road type, weather, visibility, traffic density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Accident: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severity, cause, vehicles, casualties</a:t>
            </a:r>
            <a:endParaRPr lang="en-US" sz="1400" dirty="0"/>
          </a:p>
        </p:txBody>
      </p:sp>
      <p:sp>
        <p:nvSpPr>
          <p:cNvPr id="16" name="card-236"/>
          <p:cNvSpPr/>
          <p:nvPr/>
        </p:nvSpPr>
        <p:spPr>
          <a:xfrm>
            <a:off x="548640" y="4937760"/>
            <a:ext cx="6035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766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Coerce lat/lon to numbers  •  drop missing and out-of-range rows  •  trim city names  •  convert degrees to radians</a:t>
            </a:r>
            <a:endParaRPr lang="en-US" sz="1400" dirty="0"/>
          </a:p>
        </p:txBody>
      </p:sp>
      <p:sp>
        <p:nvSpPr>
          <p:cNvPr id="19" name="card-237"/>
          <p:cNvSpPr/>
          <p:nvPr/>
        </p:nvSpPr>
        <p:spPr>
          <a:xfrm>
            <a:off x="6812280" y="2743200"/>
            <a:ext cx="4828032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86600" y="2852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City-specific eps (km)</a:t>
            </a:r>
            <a:endParaRPr lang="en-US" sz="16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949440" y="3200400"/>
          <a:ext cx="4572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14  • 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Algorithm: DBSCAN</a:t>
            </a:r>
            <a:endParaRPr lang="en-US" sz="3400" dirty="0"/>
          </a:p>
        </p:txBody>
      </p:sp>
      <p:sp>
        <p:nvSpPr>
          <p:cNvPr id="4" name="card-238"/>
          <p:cNvSpPr/>
          <p:nvPr/>
        </p:nvSpPr>
        <p:spPr>
          <a:xfrm>
            <a:off x="548640" y="1554480"/>
            <a:ext cx="4754880" cy="36576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eps-circle"/>
          <p:cNvSpPr/>
          <p:nvPr/>
        </p:nvSpPr>
        <p:spPr>
          <a:xfrm>
            <a:off x="1554480" y="2240280"/>
            <a:ext cx="2011680" cy="20116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6" name="pt-239"/>
          <p:cNvSpPr/>
          <p:nvPr/>
        </p:nvSpPr>
        <p:spPr>
          <a:xfrm>
            <a:off x="2542118" y="3732795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" name="pt-240"/>
          <p:cNvSpPr/>
          <p:nvPr/>
        </p:nvSpPr>
        <p:spPr>
          <a:xfrm>
            <a:off x="2526597" y="3777272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pt-241"/>
          <p:cNvSpPr/>
          <p:nvPr/>
        </p:nvSpPr>
        <p:spPr>
          <a:xfrm>
            <a:off x="2420387" y="2810970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" name="pt-242"/>
          <p:cNvSpPr/>
          <p:nvPr/>
        </p:nvSpPr>
        <p:spPr>
          <a:xfrm>
            <a:off x="2200121" y="3188742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pt-243"/>
          <p:cNvSpPr/>
          <p:nvPr/>
        </p:nvSpPr>
        <p:spPr>
          <a:xfrm>
            <a:off x="3066788" y="3375894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" name="pt-244"/>
          <p:cNvSpPr/>
          <p:nvPr/>
        </p:nvSpPr>
        <p:spPr>
          <a:xfrm>
            <a:off x="2736822" y="3289407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pt-245"/>
          <p:cNvSpPr/>
          <p:nvPr/>
        </p:nvSpPr>
        <p:spPr>
          <a:xfrm>
            <a:off x="1987176" y="3192703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3" name="pt-246"/>
          <p:cNvSpPr/>
          <p:nvPr/>
        </p:nvSpPr>
        <p:spPr>
          <a:xfrm>
            <a:off x="2851595" y="3659223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pt-247"/>
          <p:cNvSpPr/>
          <p:nvPr/>
        </p:nvSpPr>
        <p:spPr>
          <a:xfrm>
            <a:off x="2107857" y="3252726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5" name="pt-248"/>
          <p:cNvSpPr/>
          <p:nvPr/>
        </p:nvSpPr>
        <p:spPr>
          <a:xfrm>
            <a:off x="2629297" y="3061363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pt-249"/>
          <p:cNvSpPr/>
          <p:nvPr/>
        </p:nvSpPr>
        <p:spPr>
          <a:xfrm>
            <a:off x="2879787" y="3139518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7" name="pt-250"/>
          <p:cNvSpPr/>
          <p:nvPr/>
        </p:nvSpPr>
        <p:spPr>
          <a:xfrm>
            <a:off x="2505503" y="2688545"/>
            <a:ext cx="118872" cy="118872"/>
          </a:xfrm>
          <a:prstGeom prst="ellipse">
            <a:avLst/>
          </a:prstGeom>
          <a:solidFill>
            <a:srgbClr val="5FE0CB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999232"/>
            <a:ext cx="128016" cy="12801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3593592"/>
            <a:ext cx="128016" cy="12801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9192" y="4114800"/>
            <a:ext cx="128016" cy="12801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2331720"/>
            <a:ext cx="137160" cy="1371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4160520"/>
            <a:ext cx="137160" cy="1371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4434840"/>
            <a:ext cx="137160" cy="1371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057400"/>
            <a:ext cx="137160" cy="1371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560320" y="2532888"/>
            <a:ext cx="713232" cy="713232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0" y="2350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27" name="legend-251"/>
          <p:cNvSpPr/>
          <p:nvPr/>
        </p:nvSpPr>
        <p:spPr>
          <a:xfrm>
            <a:off x="914400" y="4754880"/>
            <a:ext cx="155448" cy="155448"/>
          </a:xfrm>
          <a:prstGeom prst="ellipse">
            <a:avLst/>
          </a:prstGeom>
          <a:solidFill>
            <a:srgbClr val="5FE0CB"/>
          </a:solidFill>
          <a:ln w="12700">
            <a:solidFill>
              <a:srgbClr val="5FE0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61288" y="468172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Core</a:t>
            </a:r>
            <a:endParaRPr lang="en-US" sz="1300" dirty="0"/>
          </a:p>
        </p:txBody>
      </p:sp>
      <p:sp>
        <p:nvSpPr>
          <p:cNvPr id="29" name="legend-252"/>
          <p:cNvSpPr/>
          <p:nvPr/>
        </p:nvSpPr>
        <p:spPr>
          <a:xfrm>
            <a:off x="2377440" y="4754880"/>
            <a:ext cx="155448" cy="1554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24328" y="468172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Border</a:t>
            </a:r>
            <a:endParaRPr lang="en-US" sz="1300" dirty="0"/>
          </a:p>
        </p:txBody>
      </p:sp>
      <p:sp>
        <p:nvSpPr>
          <p:cNvPr id="31" name="legend-253"/>
          <p:cNvSpPr/>
          <p:nvPr/>
        </p:nvSpPr>
        <p:spPr>
          <a:xfrm>
            <a:off x="3840480" y="4754880"/>
            <a:ext cx="155448" cy="1554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87368" y="468172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Noise</a:t>
            </a:r>
            <a:endParaRPr lang="en-US" sz="1300" dirty="0"/>
          </a:p>
        </p:txBody>
      </p:sp>
      <p:sp>
        <p:nvSpPr>
          <p:cNvPr id="33" name="card-254"/>
          <p:cNvSpPr/>
          <p:nvPr/>
        </p:nvSpPr>
        <p:spPr>
          <a:xfrm>
            <a:off x="5532120" y="1554480"/>
            <a:ext cx="6108192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806440" y="16642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DBSCAN works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21031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Core: at least min_samples neighbours within ε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Border: within ε of a core point, but not dense itself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Noise: neither — flagged as an isolated anomaly (−1)</a:t>
            </a:r>
            <a:endParaRPr lang="en-US" sz="1400" dirty="0"/>
          </a:p>
        </p:txBody>
      </p:sp>
      <p:sp>
        <p:nvSpPr>
          <p:cNvPr id="36" name="card-255"/>
          <p:cNvSpPr/>
          <p:nvPr/>
        </p:nvSpPr>
        <p:spPr>
          <a:xfrm>
            <a:off x="5532120" y="3520440"/>
            <a:ext cx="61081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806440" y="3630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was selected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4069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need to preset the number of clusters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Finds irregular, non-spherical hotspot shapes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Robust to noisy geospatial data; flags outliers</a:t>
            </a:r>
            <a:endParaRPr lang="en-US" sz="1400" dirty="0"/>
          </a:p>
        </p:txBody>
      </p:sp>
      <p:sp>
        <p:nvSpPr>
          <p:cNvPr id="39" name="card-256"/>
          <p:cNvSpPr/>
          <p:nvPr/>
        </p:nvSpPr>
        <p:spPr>
          <a:xfrm>
            <a:off x="548640" y="53949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ε (eps)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0.9 – 2.4 km, per city</a:t>
            </a:r>
            <a:endParaRPr lang="en-US" sz="1500" dirty="0"/>
          </a:p>
        </p:txBody>
      </p:sp>
      <p:sp>
        <p:nvSpPr>
          <p:cNvPr id="41" name="card-257"/>
          <p:cNvSpPr/>
          <p:nvPr/>
        </p:nvSpPr>
        <p:spPr>
          <a:xfrm>
            <a:off x="4311396" y="53949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39996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min_samples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43" name="card-258"/>
          <p:cNvSpPr/>
          <p:nvPr/>
        </p:nvSpPr>
        <p:spPr>
          <a:xfrm>
            <a:off x="8074152" y="53949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02752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Metric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Haversine (great-circle)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15  • 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 &amp; Evaluation</a:t>
            </a:r>
            <a:endParaRPr lang="en-US" sz="3400" dirty="0"/>
          </a:p>
        </p:txBody>
      </p:sp>
      <p:graphicFrame>
        <p:nvGraphicFramePr>
          <p:cNvPr id="17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7373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tells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to read it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Final run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Clusters detected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Number of hotspot clusters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tx1"/>
                          </a:solidFill>
                        </a:rPr>
                        <a:t>add value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Noise points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Isolated records (label −1)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 of records, 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tx1"/>
                          </a:solidFill>
                        </a:rPr>
                        <a:t>add value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Silhouette Score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Cohesion vs. separation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Closer to 1 is better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tx1"/>
                          </a:solidFill>
                        </a:rPr>
                        <a:t>add value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Davies–Bouldin Index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Overlap between clusters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Lower is better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tx1"/>
                          </a:solidFill>
                        </a:rPr>
                        <a:t>add value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Expert review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Match with known black spots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Qualitative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tx1"/>
                          </a:solidFill>
                        </a:rPr>
                        <a:t>add value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</a:tr>
            </a:tbl>
          </a:graphicData>
        </a:graphic>
      </p:graphicFrame>
      <p:sp>
        <p:nvSpPr>
          <p:cNvPr id="5" name="card-259"/>
          <p:cNvSpPr/>
          <p:nvPr/>
        </p:nvSpPr>
        <p:spPr>
          <a:xfrm>
            <a:off x="548640" y="5074920"/>
            <a:ext cx="7406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badge-260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7" name="icon-26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45211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5074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Results describe historical spatial concentrations — not predictions of future crashes. Risk levels are relative to cluster sizes.</a:t>
            </a:r>
            <a:endParaRPr lang="en-US" sz="1400" dirty="0"/>
          </a:p>
        </p:txBody>
      </p:sp>
      <p:sp>
        <p:nvSpPr>
          <p:cNvPr id="9" name="card-262"/>
          <p:cNvSpPr/>
          <p:nvPr/>
        </p:nvSpPr>
        <p:spPr>
          <a:xfrm>
            <a:off x="8183880" y="1554480"/>
            <a:ext cx="3456432" cy="4572000"/>
          </a:xfrm>
          <a:prstGeom prst="roundRect">
            <a:avLst>
              <a:gd name="adj" fmla="val 3175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458200" y="18288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Why not accuracy, precision, recall or F1?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292608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DBSCAN is unsupervised: accident records carry no ground-truth cluster labels, so supervised scores do not apply.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Cluster quality is judged with internal indices (Silhouette, Davies–Bouldin), noise share, map inspection and expert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15  •  BENCHMARK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Comparison with Existing Methods</a:t>
            </a:r>
            <a:endParaRPr lang="en-US" sz="3400" dirty="0"/>
          </a:p>
        </p:txBody>
      </p:sp>
      <p:graphicFrame>
        <p:nvGraphicFramePr>
          <p:cNvPr id="18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2651760"/>
                <a:gridCol w="267919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DBSCAN (proposed)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K-Means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Manual analysis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7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Number of clusters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 required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 in advance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applicable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Cluster shape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Arbitrary shapes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Roughly round only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Subjective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Isolated incidents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Flagged as noise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Forced into a cluster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Judgement call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High, automated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High, automated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Low, labour-intensive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Consistency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Repeatable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Repeatable, init-sensitive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Varies by analyst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Hotspot meaning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Dense areas on a map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Centroid-based regions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Count-based ranking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Qualitative comparison based on the properties of each approach.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16  • 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Demo: Home &amp; Input Screens</a:t>
            </a:r>
            <a:endParaRPr lang="en-US" sz="3400" dirty="0"/>
          </a:p>
        </p:txBody>
      </p:sp>
      <p:sp>
        <p:nvSpPr>
          <p:cNvPr id="4" name="card-263"/>
          <p:cNvSpPr/>
          <p:nvPr/>
        </p:nvSpPr>
        <p:spPr>
          <a:xfrm>
            <a:off x="548640" y="1554480"/>
            <a:ext cx="7315200" cy="46634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pic>
        <p:nvPicPr>
          <p:cNvPr id="5" name="shot-home" descr="RoadLens home page with upload strip and overview metr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7132320" cy="4457700"/>
          </a:xfrm>
          <a:prstGeom prst="rect">
            <a:avLst/>
          </a:prstGeom>
        </p:spPr>
      </p:pic>
      <p:sp>
        <p:nvSpPr>
          <p:cNvPr id="6" name="card-264"/>
          <p:cNvSpPr/>
          <p:nvPr/>
        </p:nvSpPr>
        <p:spPr>
          <a:xfrm>
            <a:off x="8092440" y="1554480"/>
            <a:ext cx="3547872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7" name="num-265"/>
          <p:cNvSpPr txBox="1"/>
          <p:nvPr/>
        </p:nvSpPr>
        <p:spPr>
          <a:xfrm>
            <a:off x="8229600" y="1755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554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Home page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Hero, navigation and a built-in demo dataset</a:t>
            </a:r>
            <a:endParaRPr lang="en-US" sz="1400" dirty="0"/>
          </a:p>
        </p:txBody>
      </p:sp>
      <p:sp>
        <p:nvSpPr>
          <p:cNvPr id="9" name="card-266"/>
          <p:cNvSpPr/>
          <p:nvPr/>
        </p:nvSpPr>
        <p:spPr>
          <a:xfrm>
            <a:off x="8092440" y="2532888"/>
            <a:ext cx="3547872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num-267"/>
          <p:cNvSpPr txBox="1"/>
          <p:nvPr/>
        </p:nvSpPr>
        <p:spPr>
          <a:xfrm>
            <a:off x="8229600" y="27340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25328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 screen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Upload CSV, set min_samples and optional eps</a:t>
            </a:r>
            <a:endParaRPr lang="en-US" sz="1400" dirty="0"/>
          </a:p>
        </p:txBody>
      </p:sp>
      <p:sp>
        <p:nvSpPr>
          <p:cNvPr id="12" name="card-268"/>
          <p:cNvSpPr/>
          <p:nvPr/>
        </p:nvSpPr>
        <p:spPr>
          <a:xfrm>
            <a:off x="8092440" y="3511296"/>
            <a:ext cx="3547872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3" name="num-269"/>
          <p:cNvSpPr txBox="1"/>
          <p:nvPr/>
        </p:nvSpPr>
        <p:spPr>
          <a:xfrm>
            <a:off x="8229600" y="37124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3511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Processing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‘Run DBSCAN analysis’ clusters each city</a:t>
            </a:r>
            <a:endParaRPr lang="en-US" sz="1400" dirty="0"/>
          </a:p>
        </p:txBody>
      </p:sp>
      <p:sp>
        <p:nvSpPr>
          <p:cNvPr id="15" name="card-270"/>
          <p:cNvSpPr/>
          <p:nvPr/>
        </p:nvSpPr>
        <p:spPr>
          <a:xfrm>
            <a:off x="8092440" y="4489704"/>
            <a:ext cx="3547872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6" name="num-271"/>
          <p:cNvSpPr txBox="1"/>
          <p:nvPr/>
        </p:nvSpPr>
        <p:spPr>
          <a:xfrm>
            <a:off x="8229600" y="4690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48970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 screen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Metrics, charts, map and hotspot table</a:t>
            </a:r>
            <a:endParaRPr lang="en-US" sz="1400" dirty="0"/>
          </a:p>
        </p:txBody>
      </p:sp>
      <p:sp>
        <p:nvSpPr>
          <p:cNvPr id="18" name="chip-272"/>
          <p:cNvSpPr txBox="1"/>
          <p:nvPr/>
        </p:nvSpPr>
        <p:spPr>
          <a:xfrm>
            <a:off x="8092440" y="5486400"/>
            <a:ext cx="3383280" cy="310896"/>
          </a:xfrm>
          <a:prstGeom prst="roundRect">
            <a:avLst>
              <a:gd name="adj" fmla="val 5882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Synthetic demo data — illustration 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16  • 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Demo: Analysis Dashboard</a:t>
            </a:r>
            <a:endParaRPr lang="en-US" sz="3400" dirty="0"/>
          </a:p>
        </p:txBody>
      </p:sp>
      <p:sp>
        <p:nvSpPr>
          <p:cNvPr id="4" name="card-273"/>
          <p:cNvSpPr/>
          <p:nvPr/>
        </p:nvSpPr>
        <p:spPr>
          <a:xfrm>
            <a:off x="548640" y="1554480"/>
            <a:ext cx="7461504" cy="908843"/>
          </a:xfrm>
          <a:prstGeom prst="roundRect">
            <a:avLst>
              <a:gd name="adj" fmla="val 1207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pic>
        <p:nvPicPr>
          <p:cNvPr id="5" name="shot-s_metrics.png" descr="RoadLens dashboard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27632"/>
            <a:ext cx="7315200" cy="762539"/>
          </a:xfrm>
          <a:prstGeom prst="rect">
            <a:avLst/>
          </a:prstGeom>
        </p:spPr>
      </p:pic>
      <p:sp>
        <p:nvSpPr>
          <p:cNvPr id="6" name="card-274"/>
          <p:cNvSpPr/>
          <p:nvPr/>
        </p:nvSpPr>
        <p:spPr>
          <a:xfrm>
            <a:off x="548640" y="2591339"/>
            <a:ext cx="7461504" cy="2007415"/>
          </a:xfrm>
          <a:prstGeom prst="roundRect">
            <a:avLst>
              <a:gd name="adj" fmla="val 546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pic>
        <p:nvPicPr>
          <p:cNvPr id="7" name="shot-s_charts1.png" descr="RoadLens dashboard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64491"/>
            <a:ext cx="7315200" cy="1861111"/>
          </a:xfrm>
          <a:prstGeom prst="rect">
            <a:avLst/>
          </a:prstGeom>
        </p:spPr>
      </p:pic>
      <p:sp>
        <p:nvSpPr>
          <p:cNvPr id="8" name="card-275"/>
          <p:cNvSpPr/>
          <p:nvPr/>
        </p:nvSpPr>
        <p:spPr>
          <a:xfrm>
            <a:off x="548640" y="4726769"/>
            <a:ext cx="7461504" cy="2007415"/>
          </a:xfrm>
          <a:prstGeom prst="roundRect">
            <a:avLst>
              <a:gd name="adj" fmla="val 546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pic>
        <p:nvPicPr>
          <p:cNvPr id="9" name="shot-s_charts2.png" descr="RoadLens dashboard pan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799921"/>
            <a:ext cx="7315200" cy="1861111"/>
          </a:xfrm>
          <a:prstGeom prst="rect">
            <a:avLst/>
          </a:prstGeom>
        </p:spPr>
      </p:pic>
      <p:sp>
        <p:nvSpPr>
          <p:cNvPr id="10" name="card-276"/>
          <p:cNvSpPr/>
          <p:nvPr/>
        </p:nvSpPr>
        <p:spPr>
          <a:xfrm>
            <a:off x="8183880" y="1554480"/>
            <a:ext cx="3456432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1" name="badge-277"/>
          <p:cNvSpPr/>
          <p:nvPr/>
        </p:nvSpPr>
        <p:spPr>
          <a:xfrm>
            <a:off x="8366760" y="1856232"/>
            <a:ext cx="603504" cy="603504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2" name="icon-278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636" y="2007108"/>
            <a:ext cx="301752" cy="30175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098280" y="15544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Overview metrics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Records, cities, clusters and noise at a glance</a:t>
            </a:r>
            <a:endParaRPr lang="en-US" sz="1400" dirty="0"/>
          </a:p>
        </p:txBody>
      </p:sp>
      <p:sp>
        <p:nvSpPr>
          <p:cNvPr id="14" name="card-279"/>
          <p:cNvSpPr/>
          <p:nvPr/>
        </p:nvSpPr>
        <p:spPr>
          <a:xfrm>
            <a:off x="8183880" y="2926080"/>
            <a:ext cx="3456432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badge-280"/>
          <p:cNvSpPr/>
          <p:nvPr/>
        </p:nvSpPr>
        <p:spPr>
          <a:xfrm>
            <a:off x="8366760" y="3227832"/>
            <a:ext cx="603504" cy="603504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6" name="icon-281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636" y="3378708"/>
            <a:ext cx="301752" cy="30175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098280" y="29260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EDA charts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City, severity, cause, hour, density and weather</a:t>
            </a:r>
            <a:endParaRPr lang="en-US" sz="1400" dirty="0"/>
          </a:p>
        </p:txBody>
      </p:sp>
      <p:sp>
        <p:nvSpPr>
          <p:cNvPr id="18" name="card-282"/>
          <p:cNvSpPr/>
          <p:nvPr/>
        </p:nvSpPr>
        <p:spPr>
          <a:xfrm>
            <a:off x="8183880" y="4297680"/>
            <a:ext cx="3456432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9" name="badge-283"/>
          <p:cNvSpPr/>
          <p:nvPr/>
        </p:nvSpPr>
        <p:spPr>
          <a:xfrm>
            <a:off x="8366760" y="4599432"/>
            <a:ext cx="603504" cy="603504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0" name="icon-284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4750308"/>
            <a:ext cx="301752" cy="30175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098280" y="42976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recompute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Change parameters and re-run the analysis</a:t>
            </a:r>
            <a:endParaRPr lang="en-US" sz="1400" dirty="0"/>
          </a:p>
        </p:txBody>
      </p:sp>
      <p:sp>
        <p:nvSpPr>
          <p:cNvPr id="22" name="chip-285"/>
          <p:cNvSpPr txBox="1"/>
          <p:nvPr/>
        </p:nvSpPr>
        <p:spPr>
          <a:xfrm>
            <a:off x="8183880" y="5760720"/>
            <a:ext cx="3383280" cy="310896"/>
          </a:xfrm>
          <a:prstGeom prst="roundRect">
            <a:avLst>
              <a:gd name="adj" fmla="val 5882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Synthetic demo data — illustration 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16  • 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Demo: Hotspot Map &amp; Summary</a:t>
            </a:r>
            <a:endParaRPr lang="en-US" sz="3400" dirty="0"/>
          </a:p>
        </p:txBody>
      </p:sp>
      <p:sp>
        <p:nvSpPr>
          <p:cNvPr id="4" name="card-286"/>
          <p:cNvSpPr/>
          <p:nvPr/>
        </p:nvSpPr>
        <p:spPr>
          <a:xfrm>
            <a:off x="548640" y="1554480"/>
            <a:ext cx="7461504" cy="2437058"/>
          </a:xfrm>
          <a:prstGeom prst="roundRect">
            <a:avLst>
              <a:gd name="adj" fmla="val 4502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pic>
        <p:nvPicPr>
          <p:cNvPr id="5" name="shot-map" descr="Hotspot map showing three clus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27632"/>
            <a:ext cx="7315200" cy="2290754"/>
          </a:xfrm>
          <a:prstGeom prst="rect">
            <a:avLst/>
          </a:prstGeom>
        </p:spPr>
      </p:pic>
      <p:sp>
        <p:nvSpPr>
          <p:cNvPr id="6" name="card-287"/>
          <p:cNvSpPr/>
          <p:nvPr/>
        </p:nvSpPr>
        <p:spPr>
          <a:xfrm>
            <a:off x="548640" y="4210994"/>
            <a:ext cx="7461504" cy="1925561"/>
          </a:xfrm>
          <a:prstGeom prst="roundRect">
            <a:avLst>
              <a:gd name="adj" fmla="val 569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pic>
        <p:nvPicPr>
          <p:cNvPr id="7" name="shot-table" descr="Detected hotspot summary 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284146"/>
            <a:ext cx="7315200" cy="1779257"/>
          </a:xfrm>
          <a:prstGeom prst="rect">
            <a:avLst/>
          </a:prstGeom>
        </p:spPr>
      </p:pic>
      <p:sp>
        <p:nvSpPr>
          <p:cNvPr id="8" name="card-288"/>
          <p:cNvSpPr/>
          <p:nvPr/>
        </p:nvSpPr>
        <p:spPr>
          <a:xfrm>
            <a:off x="8183880" y="1554480"/>
            <a:ext cx="3456432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9" name="badge-289"/>
          <p:cNvSpPr/>
          <p:nvPr/>
        </p:nvSpPr>
        <p:spPr>
          <a:xfrm>
            <a:off x="8366760" y="1856232"/>
            <a:ext cx="603504" cy="6035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icon-290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2007108"/>
            <a:ext cx="301752" cy="3017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098280" y="15544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Hotspot explorer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Clusters vs noise points, filter by city</a:t>
            </a:r>
            <a:endParaRPr lang="en-US" sz="1400" dirty="0"/>
          </a:p>
        </p:txBody>
      </p:sp>
      <p:sp>
        <p:nvSpPr>
          <p:cNvPr id="12" name="card-291"/>
          <p:cNvSpPr/>
          <p:nvPr/>
        </p:nvSpPr>
        <p:spPr>
          <a:xfrm>
            <a:off x="8183880" y="2926080"/>
            <a:ext cx="3456432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3" name="badge-292"/>
          <p:cNvSpPr/>
          <p:nvPr/>
        </p:nvSpPr>
        <p:spPr>
          <a:xfrm>
            <a:off x="8366760" y="3227832"/>
            <a:ext cx="603504" cy="6035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icon-29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636" y="3378708"/>
            <a:ext cx="301752" cy="30175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98280" y="29260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Hotspot summary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Cluster id, records, fatal, top cause, relative risk</a:t>
            </a:r>
            <a:endParaRPr lang="en-US" sz="1400" dirty="0"/>
          </a:p>
        </p:txBody>
      </p:sp>
      <p:sp>
        <p:nvSpPr>
          <p:cNvPr id="16" name="card-294"/>
          <p:cNvSpPr/>
          <p:nvPr/>
        </p:nvSpPr>
        <p:spPr>
          <a:xfrm>
            <a:off x="8183880" y="4297680"/>
            <a:ext cx="3456432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badge-295"/>
          <p:cNvSpPr/>
          <p:nvPr/>
        </p:nvSpPr>
        <p:spPr>
          <a:xfrm>
            <a:off x="8366760" y="4599432"/>
            <a:ext cx="603504" cy="6035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con-296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636" y="4750308"/>
            <a:ext cx="301752" cy="30175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98280" y="42976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Export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Download detected hotspots as CSV</a:t>
            </a:r>
            <a:endParaRPr lang="en-US" sz="1400" dirty="0"/>
          </a:p>
        </p:txBody>
      </p:sp>
      <p:sp>
        <p:nvSpPr>
          <p:cNvPr id="20" name="chip-297"/>
          <p:cNvSpPr txBox="1"/>
          <p:nvPr/>
        </p:nvSpPr>
        <p:spPr>
          <a:xfrm>
            <a:off x="8183880" y="5760720"/>
            <a:ext cx="3383280" cy="310896"/>
          </a:xfrm>
          <a:prstGeom prst="roundRect">
            <a:avLst>
              <a:gd name="adj" fmla="val 5882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Synthetic demo data — illustration 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17  •  BENEFITS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Advantages</a:t>
            </a:r>
            <a:endParaRPr lang="en-US" sz="3400" dirty="0"/>
          </a:p>
        </p:txBody>
      </p:sp>
      <p:sp>
        <p:nvSpPr>
          <p:cNvPr id="4" name="card-298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299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30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705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preset cluster count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44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DBSCAN discovers the number of hotspots from the data itself.</a:t>
            </a:r>
            <a:endParaRPr lang="en-US" sz="1400" dirty="0"/>
          </a:p>
        </p:txBody>
      </p:sp>
      <p:sp>
        <p:nvSpPr>
          <p:cNvPr id="9" name="card-301"/>
          <p:cNvSpPr/>
          <p:nvPr/>
        </p:nvSpPr>
        <p:spPr>
          <a:xfrm>
            <a:off x="4311396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badge-302"/>
          <p:cNvSpPr/>
          <p:nvPr/>
        </p:nvSpPr>
        <p:spPr>
          <a:xfrm>
            <a:off x="4585716" y="1810512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1" name="icon-303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9705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5716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hotspot shape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2944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Follows roads and corridors instead of forcing round clusters.</a:t>
            </a:r>
            <a:endParaRPr lang="en-US" sz="1400" dirty="0"/>
          </a:p>
        </p:txBody>
      </p:sp>
      <p:sp>
        <p:nvSpPr>
          <p:cNvPr id="14" name="card-304"/>
          <p:cNvSpPr/>
          <p:nvPr/>
        </p:nvSpPr>
        <p:spPr>
          <a:xfrm>
            <a:off x="8074152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badge-305"/>
          <p:cNvSpPr/>
          <p:nvPr/>
        </p:nvSpPr>
        <p:spPr>
          <a:xfrm>
            <a:off x="8348472" y="181051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icon-30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19705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Anomaly-aware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944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Isolated incidents are flagged as noise, not forced into hotspots.</a:t>
            </a:r>
            <a:endParaRPr lang="en-US" sz="1400" dirty="0"/>
          </a:p>
        </p:txBody>
      </p:sp>
      <p:sp>
        <p:nvSpPr>
          <p:cNvPr id="19" name="card-307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badge-308"/>
          <p:cNvSpPr/>
          <p:nvPr/>
        </p:nvSpPr>
        <p:spPr>
          <a:xfrm>
            <a:off x="822960" y="4187952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1" name="icon-309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4797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937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Automated and scalable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21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Replaces slow manual review; city-wise runs handle large data.</a:t>
            </a:r>
            <a:endParaRPr lang="en-US" sz="1400" dirty="0"/>
          </a:p>
        </p:txBody>
      </p:sp>
      <p:sp>
        <p:nvSpPr>
          <p:cNvPr id="24" name="card-310"/>
          <p:cNvSpPr/>
          <p:nvPr/>
        </p:nvSpPr>
        <p:spPr>
          <a:xfrm>
            <a:off x="4311396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5" name="badge-311"/>
          <p:cNvSpPr/>
          <p:nvPr/>
        </p:nvSpPr>
        <p:spPr>
          <a:xfrm>
            <a:off x="4585716" y="418795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icon-312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34797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5716" y="4937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Actionable outputs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85716" y="5321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levels, maps and a CSV make prioritisation simple.</a:t>
            </a:r>
            <a:endParaRPr lang="en-US" sz="1400" dirty="0"/>
          </a:p>
        </p:txBody>
      </p:sp>
      <p:sp>
        <p:nvSpPr>
          <p:cNvPr id="29" name="card-313"/>
          <p:cNvSpPr/>
          <p:nvPr/>
        </p:nvSpPr>
        <p:spPr>
          <a:xfrm>
            <a:off x="8074152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0" name="badge-314"/>
          <p:cNvSpPr/>
          <p:nvPr/>
        </p:nvSpPr>
        <p:spPr>
          <a:xfrm>
            <a:off x="8348472" y="4187952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31" name="icon-31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492" y="434797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48472" y="4937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Open and low cost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48472" y="5321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Python tools; runs on a standard laptop.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18  •  USE CASES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Applications</a:t>
            </a:r>
            <a:endParaRPr lang="en-US" sz="3400" dirty="0"/>
          </a:p>
        </p:txBody>
      </p:sp>
      <p:sp>
        <p:nvSpPr>
          <p:cNvPr id="4" name="card-316"/>
          <p:cNvSpPr/>
          <p:nvPr/>
        </p:nvSpPr>
        <p:spPr>
          <a:xfrm>
            <a:off x="548640" y="1554480"/>
            <a:ext cx="6675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317"/>
          <p:cNvSpPr/>
          <p:nvPr/>
        </p:nvSpPr>
        <p:spPr>
          <a:xfrm>
            <a:off x="731520" y="1673352"/>
            <a:ext cx="585216" cy="5852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31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96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Smart-city traffic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Prioritise junctions and corridors</a:t>
            </a:r>
            <a:endParaRPr lang="en-US" sz="1400" dirty="0"/>
          </a:p>
        </p:txBody>
      </p:sp>
      <p:sp>
        <p:nvSpPr>
          <p:cNvPr id="8" name="card-319"/>
          <p:cNvSpPr/>
          <p:nvPr/>
        </p:nvSpPr>
        <p:spPr>
          <a:xfrm>
            <a:off x="548640" y="2496312"/>
            <a:ext cx="6675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9" name="badge-320"/>
          <p:cNvSpPr/>
          <p:nvPr/>
        </p:nvSpPr>
        <p:spPr>
          <a:xfrm>
            <a:off x="731520" y="2615184"/>
            <a:ext cx="585216" cy="5852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icon-32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614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49631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Road-safety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recurring accident locations</a:t>
            </a:r>
            <a:endParaRPr lang="en-US" sz="1400" dirty="0"/>
          </a:p>
        </p:txBody>
      </p:sp>
      <p:sp>
        <p:nvSpPr>
          <p:cNvPr id="12" name="card-322"/>
          <p:cNvSpPr/>
          <p:nvPr/>
        </p:nvSpPr>
        <p:spPr>
          <a:xfrm>
            <a:off x="548640" y="3438144"/>
            <a:ext cx="6675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3" name="badge-323"/>
          <p:cNvSpPr/>
          <p:nvPr/>
        </p:nvSpPr>
        <p:spPr>
          <a:xfrm>
            <a:off x="731520" y="3557016"/>
            <a:ext cx="585216" cy="5852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icon-324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70332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43814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Accident-prevention planning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 engineering and enforcement</a:t>
            </a:r>
            <a:endParaRPr lang="en-US" sz="1400" dirty="0"/>
          </a:p>
        </p:txBody>
      </p:sp>
      <p:sp>
        <p:nvSpPr>
          <p:cNvPr id="16" name="card-325"/>
          <p:cNvSpPr/>
          <p:nvPr/>
        </p:nvSpPr>
        <p:spPr>
          <a:xfrm>
            <a:off x="548640" y="4379976"/>
            <a:ext cx="6675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7" name="badge-326"/>
          <p:cNvSpPr/>
          <p:nvPr/>
        </p:nvSpPr>
        <p:spPr>
          <a:xfrm>
            <a:off x="731520" y="4498848"/>
            <a:ext cx="585216" cy="5852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con-327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6451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37997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Emergency-response optimisation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Position resources near hotspots</a:t>
            </a:r>
            <a:endParaRPr lang="en-US" sz="1400" dirty="0"/>
          </a:p>
        </p:txBody>
      </p:sp>
      <p:sp>
        <p:nvSpPr>
          <p:cNvPr id="20" name="card-328"/>
          <p:cNvSpPr/>
          <p:nvPr/>
        </p:nvSpPr>
        <p:spPr>
          <a:xfrm>
            <a:off x="548640" y="5321808"/>
            <a:ext cx="6675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1" name="badge-329"/>
          <p:cNvSpPr/>
          <p:nvPr/>
        </p:nvSpPr>
        <p:spPr>
          <a:xfrm>
            <a:off x="731520" y="5440680"/>
            <a:ext cx="585216" cy="5852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con-330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8698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532180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Insurance risk assessment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Inform location-based risk models</a:t>
            </a:r>
            <a:endParaRPr lang="en-US" sz="1400" dirty="0"/>
          </a:p>
        </p:txBody>
      </p:sp>
      <p:sp>
        <p:nvSpPr>
          <p:cNvPr id="24" name="card-331"/>
          <p:cNvSpPr/>
          <p:nvPr/>
        </p:nvSpPr>
        <p:spPr>
          <a:xfrm>
            <a:off x="7498080" y="1554480"/>
            <a:ext cx="4142232" cy="4572000"/>
          </a:xfrm>
          <a:prstGeom prst="roundRect">
            <a:avLst>
              <a:gd name="adj" fmla="val 264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5" name="badge-332"/>
          <p:cNvSpPr/>
          <p:nvPr/>
        </p:nvSpPr>
        <p:spPr>
          <a:xfrm>
            <a:off x="7818120" y="187452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6" name="icon-333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20574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8181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TARGET USERS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818120" y="32918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Traffic authorities and road agencies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Urban and transport planners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Emergency services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Insurance companies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Researchers and students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19  •  CONSTRAINTS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</a:t>
            </a:r>
            <a:endParaRPr lang="en-US" sz="3400" dirty="0"/>
          </a:p>
        </p:txBody>
      </p:sp>
      <p:sp>
        <p:nvSpPr>
          <p:cNvPr id="4" name="card-334"/>
          <p:cNvSpPr/>
          <p:nvPr/>
        </p:nvSpPr>
        <p:spPr>
          <a:xfrm>
            <a:off x="548640" y="1554480"/>
            <a:ext cx="5454396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335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6" name="icon-336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773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Current limitations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Shows historical concentrations, not predictions of future crashes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Risk levels are relative to cluster sizes — not calibrated probabilities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Results are sensitive to the eps and min_samples choices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live data: hotspots update only when a new CSV is run</a:t>
            </a:r>
            <a:endParaRPr lang="en-US" sz="1500" dirty="0"/>
          </a:p>
        </p:txBody>
      </p:sp>
      <p:sp>
        <p:nvSpPr>
          <p:cNvPr id="9" name="card-337"/>
          <p:cNvSpPr/>
          <p:nvPr/>
        </p:nvSpPr>
        <p:spPr>
          <a:xfrm>
            <a:off x="6185916" y="1554480"/>
            <a:ext cx="5454396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badge-338"/>
          <p:cNvSpPr/>
          <p:nvPr/>
        </p:nvSpPr>
        <p:spPr>
          <a:xfrm>
            <a:off x="6460236" y="1828800"/>
            <a:ext cx="594360" cy="5943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1" name="icon-339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826" y="19773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7476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Dataset &amp; technical constraints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5956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Depends on reporting coverage and quality of geo-tags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Records without valid latitude/longitude are dropped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Silhouette / DBI need 2+ clusters and ≤ 5,000 clustered points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Map view capped at 12,000 points; map tiles need internet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20  •  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Future Scope</a:t>
            </a:r>
            <a:endParaRPr lang="en-US" sz="3400" dirty="0"/>
          </a:p>
        </p:txBody>
      </p:sp>
      <p:sp>
        <p:nvSpPr>
          <p:cNvPr id="4" name="timeline"/>
          <p:cNvSpPr/>
          <p:nvPr/>
        </p:nvSpPr>
        <p:spPr>
          <a:xfrm>
            <a:off x="1600200" y="2057400"/>
            <a:ext cx="89611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</p:sp>
      <p:sp>
        <p:nvSpPr>
          <p:cNvPr id="5" name="badge-340"/>
          <p:cNvSpPr/>
          <p:nvPr/>
        </p:nvSpPr>
        <p:spPr>
          <a:xfrm>
            <a:off x="1188720" y="164592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34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851660"/>
            <a:ext cx="411480" cy="411480"/>
          </a:xfrm>
          <a:prstGeom prst="rect">
            <a:avLst/>
          </a:prstGeom>
        </p:spPr>
      </p:pic>
      <p:sp>
        <p:nvSpPr>
          <p:cNvPr id="7" name="card-342"/>
          <p:cNvSpPr/>
          <p:nvPr/>
        </p:nvSpPr>
        <p:spPr>
          <a:xfrm>
            <a:off x="548640" y="278892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8" name="num-343"/>
          <p:cNvSpPr txBox="1"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66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Real-time reporting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51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Ingest accident reports as they happen.</a:t>
            </a:r>
            <a:endParaRPr lang="en-US" sz="1400" dirty="0"/>
          </a:p>
        </p:txBody>
      </p:sp>
      <p:sp>
        <p:nvSpPr>
          <p:cNvPr id="11" name="badge-344"/>
          <p:cNvSpPr/>
          <p:nvPr/>
        </p:nvSpPr>
        <p:spPr>
          <a:xfrm>
            <a:off x="3436315" y="1645920"/>
            <a:ext cx="822960" cy="82296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2" name="icon-345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55" y="1851660"/>
            <a:ext cx="411480" cy="411480"/>
          </a:xfrm>
          <a:prstGeom prst="rect">
            <a:avLst/>
          </a:prstGeom>
        </p:spPr>
      </p:pic>
      <p:sp>
        <p:nvSpPr>
          <p:cNvPr id="13" name="card-346"/>
          <p:cNvSpPr/>
          <p:nvPr/>
        </p:nvSpPr>
        <p:spPr>
          <a:xfrm>
            <a:off x="2796235" y="278892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4" name="num-347"/>
          <p:cNvSpPr txBox="1"/>
          <p:nvPr/>
        </p:nvSpPr>
        <p:spPr>
          <a:xfrm>
            <a:off x="2979115" y="2971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979115" y="3566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Dynamic hotspots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79115" y="4251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 live GPS, weather and traffic data.</a:t>
            </a:r>
            <a:endParaRPr lang="en-US" sz="1400" dirty="0"/>
          </a:p>
        </p:txBody>
      </p:sp>
      <p:sp>
        <p:nvSpPr>
          <p:cNvPr id="17" name="badge-348"/>
          <p:cNvSpPr/>
          <p:nvPr/>
        </p:nvSpPr>
        <p:spPr>
          <a:xfrm>
            <a:off x="5683910" y="164592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con-349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0" y="1851660"/>
            <a:ext cx="411480" cy="411480"/>
          </a:xfrm>
          <a:prstGeom prst="rect">
            <a:avLst/>
          </a:prstGeom>
        </p:spPr>
      </p:pic>
      <p:sp>
        <p:nvSpPr>
          <p:cNvPr id="19" name="card-350"/>
          <p:cNvSpPr/>
          <p:nvPr/>
        </p:nvSpPr>
        <p:spPr>
          <a:xfrm>
            <a:off x="5043830" y="278892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0" name="num-351"/>
          <p:cNvSpPr txBox="1"/>
          <p:nvPr/>
        </p:nvSpPr>
        <p:spPr>
          <a:xfrm>
            <a:off x="5226710" y="2971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226710" y="3566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 &amp; mobile app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26710" y="4251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Cloud-hosted app for authorities and citizens.</a:t>
            </a:r>
            <a:endParaRPr lang="en-US" sz="1400" dirty="0"/>
          </a:p>
        </p:txBody>
      </p:sp>
      <p:sp>
        <p:nvSpPr>
          <p:cNvPr id="23" name="badge-352"/>
          <p:cNvSpPr/>
          <p:nvPr/>
        </p:nvSpPr>
        <p:spPr>
          <a:xfrm>
            <a:off x="7931506" y="1645920"/>
            <a:ext cx="822960" cy="82296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4" name="icon-35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46" y="1851660"/>
            <a:ext cx="411480" cy="411480"/>
          </a:xfrm>
          <a:prstGeom prst="rect">
            <a:avLst/>
          </a:prstGeom>
        </p:spPr>
      </p:pic>
      <p:sp>
        <p:nvSpPr>
          <p:cNvPr id="25" name="card-354"/>
          <p:cNvSpPr/>
          <p:nvPr/>
        </p:nvSpPr>
        <p:spPr>
          <a:xfrm>
            <a:off x="7291426" y="278892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26" name="num-355"/>
          <p:cNvSpPr txBox="1"/>
          <p:nvPr/>
        </p:nvSpPr>
        <p:spPr>
          <a:xfrm>
            <a:off x="7474306" y="2971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474306" y="3566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Deep learning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474306" y="4251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accident severity for each hotspot.</a:t>
            </a:r>
            <a:endParaRPr lang="en-US" sz="1400" dirty="0"/>
          </a:p>
        </p:txBody>
      </p:sp>
      <p:sp>
        <p:nvSpPr>
          <p:cNvPr id="29" name="badge-356"/>
          <p:cNvSpPr/>
          <p:nvPr/>
        </p:nvSpPr>
        <p:spPr>
          <a:xfrm>
            <a:off x="10179101" y="164592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con-357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841" y="1851660"/>
            <a:ext cx="411480" cy="411480"/>
          </a:xfrm>
          <a:prstGeom prst="rect">
            <a:avLst/>
          </a:prstGeom>
        </p:spPr>
      </p:pic>
      <p:sp>
        <p:nvSpPr>
          <p:cNvPr id="31" name="card-358"/>
          <p:cNvSpPr/>
          <p:nvPr/>
        </p:nvSpPr>
        <p:spPr>
          <a:xfrm>
            <a:off x="9539021" y="2788920"/>
            <a:ext cx="2103120" cy="31089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32" name="num-359"/>
          <p:cNvSpPr txBox="1"/>
          <p:nvPr/>
        </p:nvSpPr>
        <p:spPr>
          <a:xfrm>
            <a:off x="9721901" y="2971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721901" y="3566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Safer routing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721901" y="42519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Recommend alternative routes that avoid hotspots.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21  •  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card-360"/>
          <p:cNvSpPr/>
          <p:nvPr/>
        </p:nvSpPr>
        <p:spPr>
          <a:xfrm>
            <a:off x="548640" y="155448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5" name="badge-361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6" name="icon-362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What was achieved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end-to-end pipeline — cleaning, EDA, city-wise DBSCAN and evaluation — with an interactive RoadLens dashboard.</a:t>
            </a:r>
            <a:endParaRPr lang="en-US" sz="1400" dirty="0"/>
          </a:p>
        </p:txBody>
      </p:sp>
      <p:sp>
        <p:nvSpPr>
          <p:cNvPr id="9" name="card-363"/>
          <p:cNvSpPr/>
          <p:nvPr/>
        </p:nvSpPr>
        <p:spPr>
          <a:xfrm>
            <a:off x="4311396" y="155448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0" name="badge-364"/>
          <p:cNvSpPr/>
          <p:nvPr/>
        </p:nvSpPr>
        <p:spPr>
          <a:xfrm>
            <a:off x="4585716" y="182880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con-365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66" y="20002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5716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Key outcome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31546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Recurring accident hotspots and isolated anomalies are separated automatically, without presetting the number of clusters.</a:t>
            </a:r>
            <a:endParaRPr lang="en-US" sz="1400" dirty="0"/>
          </a:p>
        </p:txBody>
      </p:sp>
      <p:sp>
        <p:nvSpPr>
          <p:cNvPr id="14" name="card-366"/>
          <p:cNvSpPr/>
          <p:nvPr/>
        </p:nvSpPr>
        <p:spPr>
          <a:xfrm>
            <a:off x="8074152" y="155448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15" name="badge-367"/>
          <p:cNvSpPr/>
          <p:nvPr/>
        </p:nvSpPr>
        <p:spPr>
          <a:xfrm>
            <a:off x="8348472" y="182880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6" name="icon-368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922" y="20002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Overall contribution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31546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reusable, low-cost and explainable approach that helps authorities prioritise road-safety interventions.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patterns.  </a:t>
            </a:r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roads safer.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Bathula Neha  •  2520090013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Veeramallu Rohita Sai Lakshmi  •  2520090235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Koumudi  •  2520090161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2"/>
                </a:solidFill>
              </a:rPr>
              <a:t>Guide: Haritha, Assistant Professor, Dept. of CSIT</a:t>
            </a:r>
            <a:endParaRPr lang="en-US" sz="1500" dirty="0"/>
          </a:p>
        </p:txBody>
      </p:sp>
      <p:sp>
        <p:nvSpPr>
          <p:cNvPr id="5" name="card-369"/>
          <p:cNvSpPr/>
          <p:nvPr/>
        </p:nvSpPr>
        <p:spPr>
          <a:xfrm>
            <a:off x="6583680" y="1188720"/>
            <a:ext cx="5056632" cy="4572000"/>
          </a:xfrm>
          <a:prstGeom prst="roundRect">
            <a:avLst>
              <a:gd name="adj" fmla="val 24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3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03720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874520"/>
            <a:ext cx="4434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Ester, Kriegel, Sander, Xu (1996). A density-based algorithm for discovering clusters in large spatial databases with noise. KDD-96.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Pedregosa et al. (2011). Scikit-learn: Machine Learning in Python. JMLR 12.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Indian Road Accident Dataset 2022–2025, Kaggle (sehaj1104).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bg2"/>
                </a:solidFill>
              </a:rPr>
              <a:t>DEPARTMENT OF CSIT   |   KL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Lens Night">
  <a:themeElements>
    <a:clrScheme name="RoadLens Night">
      <a:dk1>
        <a:srgbClr val="0B1F33"/>
      </a:dk1>
      <a:lt1>
        <a:srgbClr val="FFFFFF"/>
      </a:lt1>
      <a:dk2>
        <a:srgbClr val="12374D"/>
      </a:dk2>
      <a:lt2>
        <a:srgbClr val="EAF3F6"/>
      </a:lt2>
      <a:accent1>
        <a:srgbClr val="13A895"/>
      </a:accent1>
      <a:accent2>
        <a:srgbClr val="F2B657"/>
      </a:accent2>
      <a:accent3>
        <a:srgbClr val="E77969"/>
      </a:accent3>
      <a:accent4>
        <a:srgbClr val="5079D5"/>
      </a:accent4>
      <a:accent5>
        <a:srgbClr val="9275D8"/>
      </a:accent5>
      <a:accent6>
        <a:srgbClr val="0E6E78"/>
      </a:accent6>
      <a:hlink>
        <a:srgbClr val="13A895"/>
      </a:hlink>
      <a:folHlink>
        <a:srgbClr val="9275D8"/>
      </a:folHlink>
    </a:clrScheme>
    <a:fontScheme name="RoadLens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KL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Accident Hotspot Detection Using DBSCAN-Based Anomaly Detection</dc:title>
  <dc:subject>PptxGenJS Presentation</dc:subject>
  <dc:creator>Bathula Neha, Veeramallu Rohita Sai Lakshmi, Koumudi</dc:creator>
  <cp:lastModifiedBy>Bathula Neha, Veeramallu Rohita Sai Lakshmi, Koumudi</cp:lastModifiedBy>
  <cp:revision>1</cp:revision>
  <dcterms:created xsi:type="dcterms:W3CDTF">2026-10-14T04:06:08Z</dcterms:created>
  <dcterms:modified xsi:type="dcterms:W3CDTF">2026-10-14T04:06:08Z</dcterms:modified>
</cp:coreProperties>
</file>