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2/art/road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3891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52360" y="0"/>
            <a:ext cx="45720" cy="6858000"/>
          </a:xfrm>
          <a:prstGeom prst="rect">
            <a:avLst/>
          </a:prstGeom>
          <a:solidFill>
            <a:srgbClr val="21295C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493508" y="0"/>
            <a:ext cx="45720" cy="6858000"/>
          </a:xfrm>
          <a:prstGeom prst="rect">
            <a:avLst/>
          </a:prstGeom>
          <a:solidFill>
            <a:srgbClr val="21295C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534656" y="0"/>
            <a:ext cx="45720" cy="6858000"/>
          </a:xfrm>
          <a:prstGeom prst="rect">
            <a:avLst/>
          </a:prstGeom>
          <a:solidFill>
            <a:srgbClr val="21295C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575804" y="0"/>
            <a:ext cx="45720" cy="6858000"/>
          </a:xfrm>
          <a:prstGeom prst="rect">
            <a:avLst/>
          </a:prstGeom>
          <a:solidFill>
            <a:srgbClr val="21295C">
              <a:alpha val="3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616952" y="0"/>
            <a:ext cx="45720" cy="6858000"/>
          </a:xfrm>
          <a:prstGeom prst="rect">
            <a:avLst/>
          </a:prstGeom>
          <a:solidFill>
            <a:srgbClr val="21295C">
              <a:alpha val="4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58100" y="0"/>
            <a:ext cx="45720" cy="6858000"/>
          </a:xfrm>
          <a:prstGeom prst="rect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99248" y="0"/>
            <a:ext cx="45720" cy="685800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740396" y="0"/>
            <a:ext cx="45720" cy="6858000"/>
          </a:xfrm>
          <a:prstGeom prst="rect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781544" y="0"/>
            <a:ext cx="45720" cy="6858000"/>
          </a:xfrm>
          <a:prstGeom prst="rect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822692" y="0"/>
            <a:ext cx="45720" cy="6858000"/>
          </a:xfrm>
          <a:prstGeom prst="rect">
            <a:avLst/>
          </a:prstGeom>
          <a:solidFill>
            <a:srgbClr val="21295C">
              <a:alpha val="9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594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TITLE 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96012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 Hotspot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85800" y="23957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DBSCAN-Based Anomaly Detection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" y="2971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submitted in partial fulfilment of the requirements for the Course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345643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 •   BACHELOR OF TECHNOLOGY   •   A.Y. 2026-27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4088" y="3977640"/>
            <a:ext cx="237744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" y="44348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Bathula Neha</a:t>
            </a:r>
            <a:pPr indent="0" marL="0">
              <a:buNone/>
            </a:pPr>
            <a:r>
              <a:rPr lang="en-US" sz="125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2520090013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5800" y="47457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Veeramallu Rohita Sai Lakshmi</a:t>
            </a:r>
            <a:pPr indent="0" marL="0">
              <a:buNone/>
            </a:pPr>
            <a:r>
              <a:rPr lang="en-US" sz="125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2520090235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85800" y="50566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Koumudi</a:t>
            </a:r>
            <a:pPr indent="0" marL="0">
              <a:buNone/>
            </a:pPr>
            <a:r>
              <a:rPr lang="en-US" sz="125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2520090161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8580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  Haritha, Assistant Professor, Dept. of CS&amp;IT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" y="6309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CS &amp; IT  |  KL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48132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 frequently recur at specific locations due to poor road conditions, congestion, sharp turns, inadequate lighting, or traffic-rule violations — but manually spotting these hotspots is slow and error-prone.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0428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 Learning-based Accident Hotspot Detection System using DBSCAN, an unsupervised algorithm that groups accident-prone locations while flagging isolated incidents as anomalies.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12724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doesn't need the number of clusters specified in advance, handles irregularly shaped clusters, and copes well with noisy geospatial data — well suited to real-world accident records.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95020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drawn from public sources (US Accidents, UK Road Safety, or Indian Road Accident datasets), with features like location, time, road type, speed limit, weather, and severity.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77316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covers data collection, preprocessing, EDA, feature selection, and DBSCAN clustering — validated using Silhouette Score, Davies-Bouldin Index, and expert review.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7150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59612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are classified as high, medium, low-risk, or isolated anomalies and visualized on interactive maps (Folium, Plotly) for traffic and safety planning.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1508760"/>
            <a:ext cx="4069080" cy="4709160"/>
          </a:xfrm>
          <a:prstGeom prst="roundRect">
            <a:avLst>
              <a:gd name="adj" fmla="val 1798"/>
            </a:avLst>
          </a:prstGeom>
          <a:solidFill>
            <a:srgbClr val="0B3D5C"/>
          </a:solidFill>
          <a:ln/>
        </p:spPr>
      </p:sp>
      <p:pic>
        <p:nvPicPr>
          <p:cNvPr id="18" name="Image 0" descr="/home/claude/pptx_work2/art/hotspot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508760"/>
            <a:ext cx="4069080" cy="4709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in one picture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Hotspot Detection Using DBSCAN-Based Anomaly Detection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BACKGROUND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709160"/>
          </a:xfrm>
          <a:prstGeom prst="roundRect">
            <a:avLst>
              <a:gd name="adj" fmla="val 1359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96112" y="22037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07568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accidents remain a major public safety challenge, often clustering around specific locations.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320954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0815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include poor road design, heavy congestion, sharp turns, inadequate lighting, and frequent traffic-rule violations.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4215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0873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rely on manual analysis of accident reports — slow, inconsistent, and difficult to scale.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" y="522122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50932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availability of geo-tagged accident records from open datasets enables automated, ML-based pattern detection.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1508760"/>
            <a:ext cx="4663440" cy="4709160"/>
          </a:xfrm>
          <a:prstGeom prst="roundRect">
            <a:avLst>
              <a:gd name="adj" fmla="val 1373"/>
            </a:avLst>
          </a:prstGeom>
          <a:solidFill>
            <a:srgbClr val="21295C"/>
          </a:solidFill>
          <a:ln/>
        </p:spPr>
      </p:sp>
      <p:pic>
        <p:nvPicPr>
          <p:cNvPr id="16" name="Image 0" descr="/home/claude/pptx_work2/art/road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508760"/>
            <a:ext cx="4663440" cy="47091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858000" y="1508760"/>
            <a:ext cx="4663440" cy="685800"/>
          </a:xfrm>
          <a:prstGeom prst="rect">
            <a:avLst/>
          </a:prstGeom>
          <a:solidFill>
            <a:srgbClr val="21295C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0" y="1563624"/>
            <a:ext cx="4663440" cy="685800"/>
          </a:xfrm>
          <a:prstGeom prst="rect">
            <a:avLst/>
          </a:prstGeom>
          <a:solidFill>
            <a:srgbClr val="21295C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1618488"/>
            <a:ext cx="4663440" cy="685800"/>
          </a:xfrm>
          <a:prstGeom prst="rect">
            <a:avLst/>
          </a:prstGeom>
          <a:solidFill>
            <a:srgbClr val="21295C">
              <a:alpha val="16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0" y="1673352"/>
            <a:ext cx="4663440" cy="685800"/>
          </a:xfrm>
          <a:prstGeom prst="rect">
            <a:avLst/>
          </a:prstGeom>
          <a:solidFill>
            <a:srgbClr val="21295C">
              <a:alpha val="24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0" y="1728216"/>
            <a:ext cx="4663440" cy="685800"/>
          </a:xfrm>
          <a:prstGeom prst="rect">
            <a:avLst/>
          </a:prstGeom>
          <a:solidFill>
            <a:srgbClr val="21295C">
              <a:alpha val="3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0" y="1783080"/>
            <a:ext cx="4663440" cy="685800"/>
          </a:xfrm>
          <a:prstGeom prst="rect">
            <a:avLst/>
          </a:prstGeom>
          <a:solidFill>
            <a:srgbClr val="21295C">
              <a:alpha val="4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0" y="1837944"/>
            <a:ext cx="4663440" cy="685800"/>
          </a:xfrm>
          <a:prstGeom prst="rect">
            <a:avLst/>
          </a:prstGeom>
          <a:solidFill>
            <a:srgbClr val="21295C">
              <a:alpha val="4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0" y="1892808"/>
            <a:ext cx="4663440" cy="685800"/>
          </a:xfrm>
          <a:prstGeom prst="rect">
            <a:avLst/>
          </a:prstGeom>
          <a:solidFill>
            <a:srgbClr val="21295C">
              <a:alpha val="56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0" y="1947672"/>
            <a:ext cx="4663440" cy="685800"/>
          </a:xfrm>
          <a:prstGeom prst="rect">
            <a:avLst/>
          </a:prstGeom>
          <a:solidFill>
            <a:srgbClr val="21295C">
              <a:alpha val="6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858000" y="2002536"/>
            <a:ext cx="4663440" cy="685800"/>
          </a:xfrm>
          <a:prstGeom prst="rect">
            <a:avLst/>
          </a:prstGeom>
          <a:solidFill>
            <a:srgbClr val="21295C">
              <a:alpha val="72000"/>
            </a:srgbClr>
          </a:solidFill>
          <a:ln/>
        </p:spPr>
      </p:sp>
      <p:pic>
        <p:nvPicPr>
          <p:cNvPr id="27" name="Image 1" descr="/home/claude/pptx_work2/icons/clus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9164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1755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858000" y="4892040"/>
            <a:ext cx="4663440" cy="1325880"/>
          </a:xfrm>
          <a:prstGeom prst="rect">
            <a:avLst/>
          </a:prstGeom>
          <a:solidFill>
            <a:srgbClr val="21295C">
              <a:alpha val="82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7086600" y="5129784"/>
            <a:ext cx="73152" cy="73152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1" name="Text 27"/>
          <p:cNvSpPr/>
          <p:nvPr/>
        </p:nvSpPr>
        <p:spPr>
          <a:xfrm>
            <a:off x="7269480" y="50200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DBSCAN, a density-based clustering algorithm suited to spatial data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086600" y="5440680"/>
            <a:ext cx="73152" cy="73152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3" name="Text 29"/>
          <p:cNvSpPr/>
          <p:nvPr/>
        </p:nvSpPr>
        <p:spPr>
          <a:xfrm>
            <a:off x="7269480" y="5330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accident locations into meaningful hotspot clusters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86600" y="5751576"/>
            <a:ext cx="73152" cy="73152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5" name="Text 31"/>
          <p:cNvSpPr/>
          <p:nvPr/>
        </p:nvSpPr>
        <p:spPr>
          <a:xfrm>
            <a:off x="7269480" y="5641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isolated incidents as anomalies, not forced clusters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086600" y="6062472"/>
            <a:ext cx="73152" cy="73152"/>
          </a:xfrm>
          <a:prstGeom prst="ellipse">
            <a:avLst/>
          </a:prstGeom>
          <a:solidFill>
            <a:srgbClr val="F4C95D"/>
          </a:solidFill>
          <a:ln/>
        </p:spPr>
      </p:sp>
      <p:sp>
        <p:nvSpPr>
          <p:cNvPr id="37" name="Text 33"/>
          <p:cNvSpPr/>
          <p:nvPr/>
        </p:nvSpPr>
        <p:spPr>
          <a:xfrm>
            <a:off x="7269480" y="5952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predefine the number of hotspots in advance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Hotspot Detection Using DBSCAN-Based Anomaly Detection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TOOLS &amp; ENVIRONMENT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0B3D5C"/>
          </a:solidFill>
          <a:ln/>
        </p:spPr>
      </p:sp>
      <p:pic>
        <p:nvPicPr>
          <p:cNvPr id="6" name="Image 0" descr="/home/claude/pptx_work2/art/code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88136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069080"/>
            <a:ext cx="10881360" cy="621792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416052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x_work2/icons/lap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27024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406908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00600" y="4069080"/>
            <a:ext cx="6537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690872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478231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pptx_work2/icons/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89204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4690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00600" y="4690872"/>
            <a:ext cx="6537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 (DBSCAN), Matplotlib, Seaborn, Folium, Plotly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312664"/>
            <a:ext cx="10881360" cy="621792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18" name="Shape 13"/>
          <p:cNvSpPr/>
          <p:nvPr/>
        </p:nvSpPr>
        <p:spPr>
          <a:xfrm>
            <a:off x="822960" y="540410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2/icons/filea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5138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44752" y="531266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00600" y="5312664"/>
            <a:ext cx="6537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 /  Google Colab  /  Visual Studio Code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5934456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822960" y="602589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4" descr="/home/claude/pptx_work2/icons/gradca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613562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44752" y="593445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800600" y="5934456"/>
            <a:ext cx="6537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/  Linux  /  macOS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40080" y="4069080"/>
            <a:ext cx="10881360" cy="0"/>
          </a:xfrm>
          <a:prstGeom prst="line">
            <a:avLst/>
          </a:prstGeom>
          <a:noFill/>
          <a:ln w="12700">
            <a:solidFill>
              <a:srgbClr val="D5E4E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00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Hotspot Detection Using DBSCAN-Based Anomaly Detection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2026-08-20T04:59:57Z</dcterms:created>
  <dcterms:modified xsi:type="dcterms:W3CDTF">2026-08-20T04:59:57Z</dcterms:modified>
</cp:coreProperties>
</file>